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IBM Plex Sans"/>
      <p:bold r:id="rId20"/>
      <p:boldItalic r:id="rId21"/>
    </p:embeddedFont>
    <p:embeddedFont>
      <p:font typeface="Montserrat"/>
      <p:bold r:id="rId22"/>
      <p:boldItalic r:id="rId23"/>
    </p:embeddedFont>
    <p:embeddedFont>
      <p:font typeface="IBM Plex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bold.fntdata"/><Relationship Id="rId22" Type="http://schemas.openxmlformats.org/officeDocument/2006/relationships/font" Target="fonts/Montserrat-bold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IBMPlexMon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Mono-italic.fntdata"/><Relationship Id="rId25" Type="http://schemas.openxmlformats.org/officeDocument/2006/relationships/font" Target="fonts/IBMPlexMono-bold.fntdata"/><Relationship Id="rId27" Type="http://schemas.openxmlformats.org/officeDocument/2006/relationships/font" Target="fonts/IBMPlex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81050" y="619125"/>
            <a:ext cx="152400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Incident Helios Energy — cadrage J1</a:t>
            </a: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781050" y="2019300"/>
            <a:ext cx="7048500" cy="3362325"/>
            <a:chOff x="0" y="-38100"/>
            <a:chExt cx="9398000" cy="4483100"/>
          </a:xfrm>
        </p:grpSpPr>
        <p:grpSp>
          <p:nvGrpSpPr>
            <p:cNvPr id="89" name="Google Shape;89;p13"/>
            <p:cNvGrpSpPr/>
            <p:nvPr/>
          </p:nvGrpSpPr>
          <p:grpSpPr>
            <a:xfrm>
              <a:off x="0" y="-38100"/>
              <a:ext cx="9398000" cy="4483100"/>
              <a:chOff x="0" y="-38100"/>
              <a:chExt cx="9398000" cy="4483100"/>
            </a:xfrm>
          </p:grpSpPr>
          <p:sp>
            <p:nvSpPr>
              <p:cNvPr id="90" name="Google Shape;90;p13"/>
              <p:cNvSpPr/>
              <p:nvPr/>
            </p:nvSpPr>
            <p:spPr>
              <a:xfrm>
                <a:off x="0" y="0"/>
                <a:ext cx="9398000" cy="4445000"/>
              </a:xfrm>
              <a:custGeom>
                <a:rect b="b" l="l" r="r" t="t"/>
                <a:pathLst>
                  <a:path extrusionOk="0" h="4445000" w="9398000">
                    <a:moveTo>
                      <a:pt x="0" y="0"/>
                    </a:moveTo>
                    <a:lnTo>
                      <a:pt x="9398000" y="0"/>
                    </a:lnTo>
                    <a:lnTo>
                      <a:pt x="9398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91" name="Google Shape;91;p13"/>
              <p:cNvSpPr txBox="1"/>
              <p:nvPr/>
            </p:nvSpPr>
            <p:spPr>
              <a:xfrm>
                <a:off x="0" y="-38100"/>
                <a:ext cx="9398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13"/>
            <p:cNvSpPr txBox="1"/>
            <p:nvPr/>
          </p:nvSpPr>
          <p:spPr>
            <a:xfrm>
              <a:off x="355600" y="206375"/>
              <a:ext cx="5080000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7D3E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INCLUS</a:t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355600" y="996950"/>
              <a:ext cx="8763000" cy="2280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40 IoC triés et qualifiés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12 alertes SIEM analysées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 binaires caractérisés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Diamond Model + Admiralty Code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10 règles Sigma + STIX 2.1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Notifications ANSSI / CNIL</a:t>
              </a:r>
              <a:endParaRPr/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8210550" y="2019300"/>
            <a:ext cx="7810500" cy="3362325"/>
            <a:chOff x="0" y="-38100"/>
            <a:chExt cx="10414000" cy="4483100"/>
          </a:xfrm>
        </p:grpSpPr>
        <p:grpSp>
          <p:nvGrpSpPr>
            <p:cNvPr id="95" name="Google Shape;95;p13"/>
            <p:cNvGrpSpPr/>
            <p:nvPr/>
          </p:nvGrpSpPr>
          <p:grpSpPr>
            <a:xfrm>
              <a:off x="0" y="-38100"/>
              <a:ext cx="10414000" cy="4483100"/>
              <a:chOff x="0" y="-38100"/>
              <a:chExt cx="10414000" cy="4483100"/>
            </a:xfrm>
          </p:grpSpPr>
          <p:sp>
            <p:nvSpPr>
              <p:cNvPr id="96" name="Google Shape;96;p13"/>
              <p:cNvSpPr/>
              <p:nvPr/>
            </p:nvSpPr>
            <p:spPr>
              <a:xfrm>
                <a:off x="0" y="0"/>
                <a:ext cx="10414000" cy="4445000"/>
              </a:xfrm>
              <a:custGeom>
                <a:rect b="b" l="l" r="r" t="t"/>
                <a:pathLst>
                  <a:path extrusionOk="0" h="4445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FF8A3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97" name="Google Shape;97;p13"/>
              <p:cNvSpPr txBox="1"/>
              <p:nvPr/>
            </p:nvSpPr>
            <p:spPr>
              <a:xfrm>
                <a:off x="0" y="-38100"/>
                <a:ext cx="10414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" name="Google Shape;98;p13"/>
            <p:cNvSpPr txBox="1"/>
            <p:nvPr/>
          </p:nvSpPr>
          <p:spPr>
            <a:xfrm>
              <a:off x="355600" y="206375"/>
              <a:ext cx="5080000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8A3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EXCLUS</a:t>
              </a:r>
              <a:endParaRPr/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355600" y="996950"/>
              <a:ext cx="9271000" cy="756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Aucune interaction Dark Web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Aucune riposte offensive / hack back</a:t>
              </a:r>
              <a:endParaRPr/>
            </a:p>
          </p:txBody>
        </p:sp>
      </p:grpSp>
      <p:sp>
        <p:nvSpPr>
          <p:cNvPr id="100" name="Google Shape;100;p13"/>
          <p:cNvSpPr txBox="1"/>
          <p:nvPr/>
        </p:nvSpPr>
        <p:spPr>
          <a:xfrm>
            <a:off x="781050" y="1333500"/>
            <a:ext cx="11430000" cy="286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OIV · 3 000 collaborateurs  |  Équipe : Analystes CTI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47750" y="5686425"/>
            <a:ext cx="14668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MISP (Docker)   ·   Gephi / NetworkX   ·   Sigma   ·   STIX 2.1</a:t>
            </a:r>
            <a:endParaRPr/>
          </a:p>
        </p:txBody>
      </p:sp>
      <p:grpSp>
        <p:nvGrpSpPr>
          <p:cNvPr id="102" name="Google Shape;102;p13"/>
          <p:cNvGrpSpPr/>
          <p:nvPr/>
        </p:nvGrpSpPr>
        <p:grpSpPr>
          <a:xfrm>
            <a:off x="781050" y="6858000"/>
            <a:ext cx="2952750" cy="1428750"/>
            <a:chOff x="0" y="0"/>
            <a:chExt cx="3937000" cy="1905000"/>
          </a:xfrm>
        </p:grpSpPr>
        <p:sp>
          <p:nvSpPr>
            <p:cNvPr id="103" name="Google Shape;103;p13"/>
            <p:cNvSpPr/>
            <p:nvPr/>
          </p:nvSpPr>
          <p:spPr>
            <a:xfrm>
              <a:off x="0" y="0"/>
              <a:ext cx="3937000" cy="1905000"/>
            </a:xfrm>
            <a:custGeom>
              <a:rect b="b" l="l" r="r" t="t"/>
              <a:pathLst>
                <a:path extrusionOk="0"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J1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Cadrage / triage</a:t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4114800" y="6858000"/>
            <a:ext cx="2952750" cy="1428750"/>
            <a:chOff x="0" y="0"/>
            <a:chExt cx="3937000" cy="1905000"/>
          </a:xfrm>
        </p:grpSpPr>
        <p:sp>
          <p:nvSpPr>
            <p:cNvPr id="106" name="Google Shape;106;p13"/>
            <p:cNvSpPr/>
            <p:nvPr/>
          </p:nvSpPr>
          <p:spPr>
            <a:xfrm>
              <a:off x="0" y="0"/>
              <a:ext cx="3937000" cy="1905000"/>
            </a:xfrm>
            <a:custGeom>
              <a:rect b="b" l="l" r="r" t="t"/>
              <a:pathLst>
                <a:path extrusionOk="0"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J2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Enrichissement / MISP</a:t>
              </a:r>
              <a:endParaRPr/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7448550" y="6858000"/>
            <a:ext cx="2952750" cy="1428750"/>
            <a:chOff x="0" y="0"/>
            <a:chExt cx="3937000" cy="1905000"/>
          </a:xfrm>
        </p:grpSpPr>
        <p:sp>
          <p:nvSpPr>
            <p:cNvPr id="109" name="Google Shape;109;p13"/>
            <p:cNvSpPr/>
            <p:nvPr/>
          </p:nvSpPr>
          <p:spPr>
            <a:xfrm>
              <a:off x="0" y="0"/>
              <a:ext cx="3937000" cy="1905000"/>
            </a:xfrm>
            <a:custGeom>
              <a:rect b="b" l="l" r="r" t="t"/>
              <a:pathLst>
                <a:path extrusionOk="0"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J3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Kill chain / attribution</a:t>
              </a:r>
              <a:endParaRPr/>
            </a:p>
          </p:txBody>
        </p:sp>
      </p:grpSp>
      <p:grpSp>
        <p:nvGrpSpPr>
          <p:cNvPr id="111" name="Google Shape;111;p13"/>
          <p:cNvGrpSpPr/>
          <p:nvPr/>
        </p:nvGrpSpPr>
        <p:grpSpPr>
          <a:xfrm>
            <a:off x="10782300" y="6858000"/>
            <a:ext cx="2952750" cy="1428750"/>
            <a:chOff x="0" y="0"/>
            <a:chExt cx="3937000" cy="1905000"/>
          </a:xfrm>
        </p:grpSpPr>
        <p:sp>
          <p:nvSpPr>
            <p:cNvPr id="112" name="Google Shape;112;p13"/>
            <p:cNvSpPr/>
            <p:nvPr/>
          </p:nvSpPr>
          <p:spPr>
            <a:xfrm>
              <a:off x="0" y="0"/>
              <a:ext cx="3937000" cy="1905000"/>
            </a:xfrm>
            <a:custGeom>
              <a:rect b="b" l="l" r="r" t="t"/>
              <a:pathLst>
                <a:path extrusionOk="0"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J4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Sigma / STIX</a:t>
              </a:r>
              <a:endParaRPr/>
            </a:p>
          </p:txBody>
        </p:sp>
      </p:grpSp>
      <p:grpSp>
        <p:nvGrpSpPr>
          <p:cNvPr id="114" name="Google Shape;114;p13"/>
          <p:cNvGrpSpPr/>
          <p:nvPr/>
        </p:nvGrpSpPr>
        <p:grpSpPr>
          <a:xfrm>
            <a:off x="14116050" y="6858000"/>
            <a:ext cx="2952750" cy="1428750"/>
            <a:chOff x="0" y="0"/>
            <a:chExt cx="3937000" cy="1905000"/>
          </a:xfrm>
        </p:grpSpPr>
        <p:sp>
          <p:nvSpPr>
            <p:cNvPr id="115" name="Google Shape;115;p13"/>
            <p:cNvSpPr/>
            <p:nvPr/>
          </p:nvSpPr>
          <p:spPr>
            <a:xfrm>
              <a:off x="0" y="0"/>
              <a:ext cx="3937000" cy="1905000"/>
            </a:xfrm>
            <a:custGeom>
              <a:rect b="b" l="l" r="r" t="t"/>
              <a:pathLst>
                <a:path extrusionOk="0" h="1905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847645"/>
                  </a:lnTo>
                  <a:cubicBezTo>
                    <a:pt x="3937000" y="1862857"/>
                    <a:pt x="3930957" y="1877445"/>
                    <a:pt x="3920201" y="1888201"/>
                  </a:cubicBezTo>
                  <a:cubicBezTo>
                    <a:pt x="3909445" y="1898957"/>
                    <a:pt x="3894856" y="1905000"/>
                    <a:pt x="3879645" y="1905000"/>
                  </a:cubicBezTo>
                  <a:lnTo>
                    <a:pt x="57355" y="1905000"/>
                  </a:lnTo>
                  <a:cubicBezTo>
                    <a:pt x="42143" y="1905000"/>
                    <a:pt x="27555" y="1898957"/>
                    <a:pt x="16799" y="1888201"/>
                  </a:cubicBezTo>
                  <a:cubicBezTo>
                    <a:pt x="6043" y="1877445"/>
                    <a:pt x="0" y="1862857"/>
                    <a:pt x="0" y="1847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3"/>
            <p:cNvSpPr txBox="1"/>
            <p:nvPr/>
          </p:nvSpPr>
          <p:spPr>
            <a:xfrm>
              <a:off x="0" y="9525"/>
              <a:ext cx="3937000" cy="189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J5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Restitution / ANSSI</a:t>
              </a:r>
              <a:endParaRPr/>
            </a:p>
          </p:txBody>
        </p:sp>
      </p:grpSp>
      <p:sp>
        <p:nvSpPr>
          <p:cNvPr id="117" name="Google Shape;117;p13"/>
          <p:cNvSpPr txBox="1"/>
          <p:nvPr/>
        </p:nvSpPr>
        <p:spPr>
          <a:xfrm>
            <a:off x="11683475" y="9763125"/>
            <a:ext cx="6497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laurent FAUVEAU le 10/26 Master 1 Cyber</a:t>
            </a:r>
            <a:endParaRPr sz="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Triage — 40 IoC &amp; 12 alertes SIEM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523875" y="1352550"/>
            <a:ext cx="8048625" cy="5124450"/>
            <a:chOff x="0" y="-38100"/>
            <a:chExt cx="10731500" cy="6832600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10731500" cy="6794500"/>
            </a:xfrm>
            <a:custGeom>
              <a:rect b="b" l="l" r="r" t="t"/>
              <a:pathLst>
                <a:path extrusionOk="0" h="6794500" w="10731500">
                  <a:moveTo>
                    <a:pt x="0" y="0"/>
                  </a:moveTo>
                  <a:lnTo>
                    <a:pt x="10731500" y="0"/>
                  </a:lnTo>
                  <a:lnTo>
                    <a:pt x="10731500" y="6794500"/>
                  </a:lnTo>
                  <a:lnTo>
                    <a:pt x="0" y="6794500"/>
                  </a:lnTo>
                  <a:close/>
                </a:path>
              </a:pathLst>
            </a:custGeom>
            <a:solidFill>
              <a:srgbClr val="0D2636"/>
            </a:solidFill>
            <a:ln cap="sq" cmpd="sng" w="19050">
              <a:solidFill>
                <a:srgbClr val="2946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8" name="Google Shape;128;p14"/>
            <p:cNvSpPr txBox="1"/>
            <p:nvPr/>
          </p:nvSpPr>
          <p:spPr>
            <a:xfrm>
              <a:off x="0" y="-38100"/>
              <a:ext cx="10731500" cy="68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4"/>
          <p:cNvSpPr txBox="1"/>
          <p:nvPr/>
        </p:nvSpPr>
        <p:spPr>
          <a:xfrm>
            <a:off x="781050" y="1533525"/>
            <a:ext cx="53340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INVENTAIRE IoC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81050" y="2095500"/>
            <a:ext cx="7524750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HASHES  BIN-01 · BIN-02 · BIN-03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DOMAINES  cdn-svc-update · api-telemetry-eu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mail-secure-login · helios-energy-portal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update-win-msft · static-assets-cache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IPs  198.51.100.x · 203.0.113.x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AUTRES  URLs · certificats SHA1 · tâches planifiées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HÔTES  comptabilite-07 · dc-01 · srv-fichiers-02</a:t>
            </a:r>
            <a:endParaRPr/>
          </a:p>
        </p:txBody>
      </p:sp>
      <p:grpSp>
        <p:nvGrpSpPr>
          <p:cNvPr id="131" name="Google Shape;131;p14"/>
          <p:cNvGrpSpPr/>
          <p:nvPr/>
        </p:nvGrpSpPr>
        <p:grpSpPr>
          <a:xfrm>
            <a:off x="8620125" y="1352550"/>
            <a:ext cx="9144000" cy="5124450"/>
            <a:chOff x="0" y="-38100"/>
            <a:chExt cx="12192000" cy="6832600"/>
          </a:xfrm>
        </p:grpSpPr>
        <p:sp>
          <p:nvSpPr>
            <p:cNvPr id="132" name="Google Shape;132;p14"/>
            <p:cNvSpPr/>
            <p:nvPr/>
          </p:nvSpPr>
          <p:spPr>
            <a:xfrm>
              <a:off x="0" y="0"/>
              <a:ext cx="12192000" cy="6794500"/>
            </a:xfrm>
            <a:custGeom>
              <a:rect b="b" l="l" r="r" t="t"/>
              <a:pathLst>
                <a:path extrusionOk="0" h="67945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794500"/>
                  </a:lnTo>
                  <a:lnTo>
                    <a:pt x="0" y="6794500"/>
                  </a:lnTo>
                  <a:close/>
                </a:path>
              </a:pathLst>
            </a:custGeom>
            <a:solidFill>
              <a:srgbClr val="0D2636"/>
            </a:solidFill>
            <a:ln cap="sq" cmpd="sng" w="19050">
              <a:solidFill>
                <a:srgbClr val="2946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33" name="Google Shape;133;p14"/>
            <p:cNvSpPr txBox="1"/>
            <p:nvPr/>
          </p:nvSpPr>
          <p:spPr>
            <a:xfrm>
              <a:off x="0" y="-38100"/>
              <a:ext cx="12192000" cy="68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4"/>
          <p:cNvSpPr txBox="1"/>
          <p:nvPr/>
        </p:nvSpPr>
        <p:spPr>
          <a:xfrm>
            <a:off x="8858250" y="1533525"/>
            <a:ext cx="47625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8A3D"/>
                </a:solidFill>
                <a:latin typeface="IBM Plex Sans"/>
                <a:ea typeface="IBM Plex Sans"/>
                <a:cs typeface="IBM Plex Sans"/>
                <a:sym typeface="IBM Plex Sans"/>
              </a:rPr>
              <a:t>12 ALERTES SIEM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858250" y="2095500"/>
            <a:ext cx="8572500" cy="1475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Macro Word                 07 RDP hors heures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Téléchargement C2          08 Injection explorer.exe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Tâche planifiée            09 Compte svc-backup-temp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04 Balise C2                  10 Exfiltration 2,3 Go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05 Dump LSASS                 11 Bascule domaine C2</a:t>
            </a:r>
            <a:endParaRPr/>
          </a:p>
          <a:p>
            <a:pPr indent="0" lvl="0" marL="0" marR="0" rtl="0" algn="l">
              <a:lnSpc>
                <a:spcPct val="12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D7EDF3"/>
                </a:solidFill>
                <a:latin typeface="IBM Plex Mono"/>
                <a:ea typeface="IBM Plex Mono"/>
                <a:cs typeface="IBM Plex Mono"/>
                <a:sym typeface="IBM Plex Mono"/>
              </a:rPr>
              <a:t>06 Scan ports                 12 Purge logs wevtutil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63" y="4969475"/>
            <a:ext cx="683895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7225" y="5702900"/>
            <a:ext cx="68389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8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2634"/>
                </a:solidFill>
                <a:latin typeface="Montserrat"/>
                <a:ea typeface="Montserrat"/>
                <a:cs typeface="Montserrat"/>
                <a:sym typeface="Montserrat"/>
              </a:rPr>
              <a:t>Du phishing à l’effacement des traces</a:t>
            </a:r>
            <a:endParaRPr/>
          </a:p>
        </p:txBody>
      </p:sp>
      <p:grpSp>
        <p:nvGrpSpPr>
          <p:cNvPr id="143" name="Google Shape;143;p15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145" name="Google Shape;145;p15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6" name="Google Shape;146;p15"/>
          <p:cNvCxnSpPr/>
          <p:nvPr/>
        </p:nvCxnSpPr>
        <p:spPr>
          <a:xfrm>
            <a:off x="904875" y="1714500"/>
            <a:ext cx="0" cy="7286625"/>
          </a:xfrm>
          <a:prstGeom prst="straightConnector1">
            <a:avLst/>
          </a:prstGeom>
          <a:noFill/>
          <a:ln cap="flat" cmpd="sng" w="38100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5"/>
          <p:cNvCxnSpPr/>
          <p:nvPr/>
        </p:nvCxnSpPr>
        <p:spPr>
          <a:xfrm>
            <a:off x="9477375" y="1714500"/>
            <a:ext cx="0" cy="7286625"/>
          </a:xfrm>
          <a:prstGeom prst="straightConnector1">
            <a:avLst/>
          </a:prstGeom>
          <a:noFill/>
          <a:ln cap="flat" cmpd="sng" w="38100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5"/>
          <p:cNvSpPr/>
          <p:nvPr/>
        </p:nvSpPr>
        <p:spPr>
          <a:xfrm>
            <a:off x="828675" y="1676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143000" y="1590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02/03 07:58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3143250" y="1581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Phishing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3143250" y="1971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mail-secure-login · IoC 15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828675" y="3009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1143000" y="2924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02/03 08:30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143250" y="2914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Exécution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3143250" y="3305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BIN-01 · comptabilite-07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828675" y="4343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143000" y="4257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02/03 08:41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143250" y="4248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Téléchargement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3143250" y="4638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BIN-02 · cdn-svc-update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828675" y="5676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143000" y="5591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02/03 08:45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3143250" y="5581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Persistance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3143250" y="5972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Tâche + clé Run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828675" y="7010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43000" y="6924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02/03 09:15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143250" y="6915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C2 HTTPS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143250" y="7305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api-telemetry-eu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828675" y="8343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143000" y="8258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03/03 10:12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3143250" y="8248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Scan interne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3143250" y="8639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198.51.100.55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9401175" y="1676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9715500" y="1590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04/03 01:47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11715750" y="1581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RDP latéral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11715750" y="1971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srv-fichiers-02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9401175" y="3009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9715500" y="2924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04/03 11:05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11715750" y="2914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Injection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1715750" y="3305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explorer.exe</a:t>
            </a: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9401175" y="4343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9715500" y="4257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05/03 14:07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11715750" y="4248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Vol d’identifiants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11715750" y="4638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DC-01 · LSASS</a:t>
            </a: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9401175" y="5676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27D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9715500" y="5591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05/03 14:10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1715750" y="5581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Compte créé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11715750" y="5972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svc-backup-temp</a:t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9401175" y="70104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FF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715500" y="69246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05/03 15:30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11715750" y="69151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Exfiltration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11715750" y="73056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2,3 Go · 203.0.113.28</a:t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9401175" y="8343900"/>
            <a:ext cx="152400" cy="152400"/>
          </a:xfrm>
          <a:custGeom>
            <a:rect b="b" l="l" r="r" t="t"/>
            <a:pathLst>
              <a:path extrusionOk="0" h="203200" w="203200">
                <a:moveTo>
                  <a:pt x="101600" y="0"/>
                </a:moveTo>
                <a:cubicBezTo>
                  <a:pt x="157712" y="0"/>
                  <a:pt x="203200" y="45488"/>
                  <a:pt x="203200" y="101600"/>
                </a:cubicBezTo>
                <a:cubicBezTo>
                  <a:pt x="203200" y="157712"/>
                  <a:pt x="157712" y="203200"/>
                  <a:pt x="101600" y="203200"/>
                </a:cubicBezTo>
                <a:cubicBezTo>
                  <a:pt x="45488" y="203200"/>
                  <a:pt x="0" y="157712"/>
                  <a:pt x="0" y="101600"/>
                </a:cubicBezTo>
                <a:cubicBezTo>
                  <a:pt x="0" y="45488"/>
                  <a:pt x="45488" y="0"/>
                  <a:pt x="101600" y="0"/>
                </a:cubicBezTo>
                <a:close/>
              </a:path>
            </a:pathLst>
          </a:custGeom>
          <a:solidFill>
            <a:srgbClr val="FF8A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715500" y="8258175"/>
            <a:ext cx="1809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8A3D"/>
                </a:solidFill>
                <a:latin typeface="IBM Plex Mono"/>
                <a:ea typeface="IBM Plex Mono"/>
                <a:cs typeface="IBM Plex Mono"/>
                <a:sym typeface="IBM Plex Mono"/>
              </a:rPr>
              <a:t>07/03 09:02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11715750" y="8248650"/>
            <a:ext cx="247650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Purge logs</a:t>
            </a:r>
            <a:endParaRPr/>
          </a:p>
        </p:txBody>
      </p:sp>
      <p:sp>
        <p:nvSpPr>
          <p:cNvPr id="195" name="Google Shape;195;p15"/>
          <p:cNvSpPr txBox="1"/>
          <p:nvPr/>
        </p:nvSpPr>
        <p:spPr>
          <a:xfrm>
            <a:off x="11715750" y="8639175"/>
            <a:ext cx="476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2634"/>
                </a:solidFill>
                <a:latin typeface="IBM Plex Mono"/>
                <a:ea typeface="IBM Plex Mono"/>
                <a:cs typeface="IBM Plex Mono"/>
                <a:sym typeface="IBM Plex Mono"/>
              </a:rPr>
              <a:t>wevtutil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2634"/>
                </a:solidFill>
                <a:latin typeface="Montserrat"/>
                <a:ea typeface="Montserrat"/>
                <a:cs typeface="Montserrat"/>
                <a:sym typeface="Montserrat"/>
              </a:rPr>
              <a:t>Impact métier — matrice CID</a:t>
            </a:r>
            <a:endParaRPr/>
          </a:p>
        </p:txBody>
      </p:sp>
      <p:grpSp>
        <p:nvGrpSpPr>
          <p:cNvPr id="201" name="Google Shape;201;p16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16"/>
          <p:cNvGrpSpPr/>
          <p:nvPr/>
        </p:nvGrpSpPr>
        <p:grpSpPr>
          <a:xfrm>
            <a:off x="666750" y="1495425"/>
            <a:ext cx="16954500" cy="742950"/>
            <a:chOff x="0" y="-38100"/>
            <a:chExt cx="22606000" cy="990600"/>
          </a:xfrm>
        </p:grpSpPr>
        <p:sp>
          <p:nvSpPr>
            <p:cNvPr id="205" name="Google Shape;205;p16"/>
            <p:cNvSpPr/>
            <p:nvPr/>
          </p:nvSpPr>
          <p:spPr>
            <a:xfrm>
              <a:off x="0" y="0"/>
              <a:ext cx="22606000" cy="952500"/>
            </a:xfrm>
            <a:custGeom>
              <a:rect b="b" l="l" r="r" t="t"/>
              <a:pathLst>
                <a:path extrusionOk="0" h="9525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102634"/>
            </a:solidFill>
            <a:ln>
              <a:noFill/>
            </a:ln>
          </p:spPr>
        </p:sp>
        <p:sp>
          <p:nvSpPr>
            <p:cNvPr id="206" name="Google Shape;206;p16"/>
            <p:cNvSpPr txBox="1"/>
            <p:nvPr/>
          </p:nvSpPr>
          <p:spPr>
            <a:xfrm>
              <a:off x="0" y="-38100"/>
              <a:ext cx="22606000" cy="99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6"/>
          <p:cNvSpPr txBox="1"/>
          <p:nvPr/>
        </p:nvSpPr>
        <p:spPr>
          <a:xfrm>
            <a:off x="914400" y="1724025"/>
            <a:ext cx="4210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ACTIF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5562600" y="17240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C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6800850" y="17240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I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8039100" y="17240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9277350" y="1724025"/>
            <a:ext cx="2305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CRITICITÉ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2039600" y="1724025"/>
            <a:ext cx="53054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IMPACT</a:t>
            </a:r>
            <a:endParaRPr/>
          </a:p>
        </p:txBody>
      </p:sp>
      <p:grpSp>
        <p:nvGrpSpPr>
          <p:cNvPr id="213" name="Google Shape;213;p16"/>
          <p:cNvGrpSpPr/>
          <p:nvPr/>
        </p:nvGrpSpPr>
        <p:grpSpPr>
          <a:xfrm>
            <a:off x="666750" y="2352675"/>
            <a:ext cx="16954500" cy="1314450"/>
            <a:chOff x="0" y="-38100"/>
            <a:chExt cx="22606000" cy="17526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22606000" cy="1714500"/>
            </a:xfrm>
            <a:custGeom>
              <a:rect b="b" l="l" r="r" t="t"/>
              <a:pathLst>
                <a:path extrusionOk="0" h="17145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5" name="Google Shape;215;p16"/>
            <p:cNvSpPr txBox="1"/>
            <p:nvPr/>
          </p:nvSpPr>
          <p:spPr>
            <a:xfrm>
              <a:off x="0" y="-38100"/>
              <a:ext cx="226060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6"/>
          <p:cNvSpPr txBox="1"/>
          <p:nvPr/>
        </p:nvSpPr>
        <p:spPr>
          <a:xfrm>
            <a:off x="914400" y="2543175"/>
            <a:ext cx="421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Messagerie &amp; AD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5562600" y="253365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Élevé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6800850" y="253365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Moyen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8039100" y="253365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Faible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277350" y="2533650"/>
            <a:ext cx="2305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535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CRITIQUE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12039600" y="2533650"/>
            <a:ext cx="53054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Compromission accès privilèges</a:t>
            </a:r>
            <a:endParaRPr/>
          </a:p>
        </p:txBody>
      </p:sp>
      <p:grpSp>
        <p:nvGrpSpPr>
          <p:cNvPr id="222" name="Google Shape;222;p16"/>
          <p:cNvGrpSpPr/>
          <p:nvPr/>
        </p:nvGrpSpPr>
        <p:grpSpPr>
          <a:xfrm>
            <a:off x="666750" y="3924300"/>
            <a:ext cx="16954500" cy="1314450"/>
            <a:chOff x="0" y="-38100"/>
            <a:chExt cx="22606000" cy="1752600"/>
          </a:xfrm>
        </p:grpSpPr>
        <p:sp>
          <p:nvSpPr>
            <p:cNvPr id="223" name="Google Shape;223;p16"/>
            <p:cNvSpPr/>
            <p:nvPr/>
          </p:nvSpPr>
          <p:spPr>
            <a:xfrm>
              <a:off x="0" y="0"/>
              <a:ext cx="22606000" cy="1714500"/>
            </a:xfrm>
            <a:custGeom>
              <a:rect b="b" l="l" r="r" t="t"/>
              <a:pathLst>
                <a:path extrusionOk="0" h="17145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FE9ED"/>
            </a:solidFill>
            <a:ln>
              <a:noFill/>
            </a:ln>
          </p:spPr>
        </p:sp>
        <p:sp>
          <p:nvSpPr>
            <p:cNvPr id="224" name="Google Shape;224;p16"/>
            <p:cNvSpPr txBox="1"/>
            <p:nvPr/>
          </p:nvSpPr>
          <p:spPr>
            <a:xfrm>
              <a:off x="0" y="-38100"/>
              <a:ext cx="226060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6"/>
          <p:cNvSpPr txBox="1"/>
          <p:nvPr/>
        </p:nvSpPr>
        <p:spPr>
          <a:xfrm>
            <a:off x="914400" y="4114800"/>
            <a:ext cx="421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Serveurs Fichiers IT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5562600" y="410527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Élevé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6800850" y="410527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Faible</a:t>
            </a:r>
            <a:endParaRPr/>
          </a:p>
        </p:txBody>
      </p:sp>
      <p:sp>
        <p:nvSpPr>
          <p:cNvPr id="228" name="Google Shape;228;p16"/>
          <p:cNvSpPr txBox="1"/>
          <p:nvPr/>
        </p:nvSpPr>
        <p:spPr>
          <a:xfrm>
            <a:off x="8039100" y="410527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Faible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9277350" y="4105275"/>
            <a:ext cx="2305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A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MAJEUR</a:t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12039600" y="4105275"/>
            <a:ext cx="53054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Risque d’espionnage</a:t>
            </a:r>
            <a:endParaRPr/>
          </a:p>
        </p:txBody>
      </p:sp>
      <p:grpSp>
        <p:nvGrpSpPr>
          <p:cNvPr id="231" name="Google Shape;231;p16"/>
          <p:cNvGrpSpPr/>
          <p:nvPr/>
        </p:nvGrpSpPr>
        <p:grpSpPr>
          <a:xfrm>
            <a:off x="666750" y="5495925"/>
            <a:ext cx="16954500" cy="1314450"/>
            <a:chOff x="0" y="-38100"/>
            <a:chExt cx="22606000" cy="1752600"/>
          </a:xfrm>
        </p:grpSpPr>
        <p:sp>
          <p:nvSpPr>
            <p:cNvPr id="232" name="Google Shape;232;p16"/>
            <p:cNvSpPr/>
            <p:nvPr/>
          </p:nvSpPr>
          <p:spPr>
            <a:xfrm>
              <a:off x="0" y="0"/>
              <a:ext cx="22606000" cy="1714500"/>
            </a:xfrm>
            <a:custGeom>
              <a:rect b="b" l="l" r="r" t="t"/>
              <a:pathLst>
                <a:path extrusionOk="0" h="17145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3" name="Google Shape;233;p16"/>
            <p:cNvSpPr txBox="1"/>
            <p:nvPr/>
          </p:nvSpPr>
          <p:spPr>
            <a:xfrm>
              <a:off x="0" y="-38100"/>
              <a:ext cx="226060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6"/>
          <p:cNvSpPr txBox="1"/>
          <p:nvPr/>
        </p:nvSpPr>
        <p:spPr>
          <a:xfrm>
            <a:off x="914400" y="5686425"/>
            <a:ext cx="421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Postes Ingénierie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5562600" y="567690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Moyen</a:t>
            </a:r>
            <a:endParaRPr/>
          </a:p>
        </p:txBody>
      </p:sp>
      <p:sp>
        <p:nvSpPr>
          <p:cNvPr id="236" name="Google Shape;236;p16"/>
          <p:cNvSpPr txBox="1"/>
          <p:nvPr/>
        </p:nvSpPr>
        <p:spPr>
          <a:xfrm>
            <a:off x="6800850" y="567690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Élevé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8039100" y="5676900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Moyen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9277350" y="5676900"/>
            <a:ext cx="2305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8A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MAJEUR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12039600" y="5676900"/>
            <a:ext cx="53054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Pivot potentiel vers OT / SCADA</a:t>
            </a:r>
            <a:endParaRPr/>
          </a:p>
        </p:txBody>
      </p:sp>
      <p:grpSp>
        <p:nvGrpSpPr>
          <p:cNvPr id="240" name="Google Shape;240;p16"/>
          <p:cNvGrpSpPr/>
          <p:nvPr/>
        </p:nvGrpSpPr>
        <p:grpSpPr>
          <a:xfrm>
            <a:off x="666750" y="7067550"/>
            <a:ext cx="16954500" cy="1314450"/>
            <a:chOff x="0" y="-38100"/>
            <a:chExt cx="22606000" cy="1752600"/>
          </a:xfrm>
        </p:grpSpPr>
        <p:sp>
          <p:nvSpPr>
            <p:cNvPr id="241" name="Google Shape;241;p16"/>
            <p:cNvSpPr/>
            <p:nvPr/>
          </p:nvSpPr>
          <p:spPr>
            <a:xfrm>
              <a:off x="0" y="0"/>
              <a:ext cx="22606000" cy="1714500"/>
            </a:xfrm>
            <a:custGeom>
              <a:rect b="b" l="l" r="r" t="t"/>
              <a:pathLst>
                <a:path extrusionOk="0" h="17145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1714500"/>
                  </a:lnTo>
                  <a:lnTo>
                    <a:pt x="0" y="1714500"/>
                  </a:lnTo>
                  <a:close/>
                </a:path>
              </a:pathLst>
            </a:custGeom>
            <a:solidFill>
              <a:srgbClr val="DFE9ED"/>
            </a:solidFill>
            <a:ln>
              <a:noFill/>
            </a:ln>
          </p:spPr>
        </p:sp>
        <p:sp>
          <p:nvSpPr>
            <p:cNvPr id="242" name="Google Shape;242;p16"/>
            <p:cNvSpPr txBox="1"/>
            <p:nvPr/>
          </p:nvSpPr>
          <p:spPr>
            <a:xfrm>
              <a:off x="0" y="-38100"/>
              <a:ext cx="22606000" cy="17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6"/>
          <p:cNvSpPr txBox="1"/>
          <p:nvPr/>
        </p:nvSpPr>
        <p:spPr>
          <a:xfrm>
            <a:off x="914400" y="7258050"/>
            <a:ext cx="421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Système SCADA / OT</a:t>
            </a:r>
            <a:endParaRPr/>
          </a:p>
        </p:txBody>
      </p:sp>
      <p:sp>
        <p:nvSpPr>
          <p:cNvPr id="244" name="Google Shape;244;p16"/>
          <p:cNvSpPr txBox="1"/>
          <p:nvPr/>
        </p:nvSpPr>
        <p:spPr>
          <a:xfrm>
            <a:off x="5562600" y="72485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Aucun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6800850" y="72485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Aucun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039100" y="7248525"/>
            <a:ext cx="7810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Aucun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9277350" y="7248525"/>
            <a:ext cx="2305050" cy="567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5C78A"/>
                </a:solidFill>
                <a:latin typeface="IBM Plex Sans"/>
                <a:ea typeface="IBM Plex Sans"/>
                <a:cs typeface="IBM Plex Sans"/>
                <a:sym typeface="IBM Plex Sans"/>
              </a:rPr>
              <a:t>FAIBLE actuel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5C78A"/>
                </a:solidFill>
                <a:latin typeface="IBM Plex Sans"/>
                <a:ea typeface="IBM Plex Sans"/>
                <a:cs typeface="IBM Plex Sans"/>
                <a:sym typeface="IBM Plex Sans"/>
              </a:rPr>
              <a:t>VITALE potentiel</a:t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12039600" y="7248525"/>
            <a:ext cx="5305425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Étanchéité confirmée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Qualification des artefacts &amp; Diamond Model</a:t>
            </a:r>
            <a:endParaRPr/>
          </a:p>
        </p:txBody>
      </p:sp>
      <p:grpSp>
        <p:nvGrpSpPr>
          <p:cNvPr id="254" name="Google Shape;254;p17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255" name="Google Shape;255;p17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256" name="Google Shape;256;p17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257;p17"/>
          <p:cNvGrpSpPr/>
          <p:nvPr/>
        </p:nvGrpSpPr>
        <p:grpSpPr>
          <a:xfrm>
            <a:off x="523875" y="1352550"/>
            <a:ext cx="6477000" cy="6696075"/>
            <a:chOff x="0" y="-38100"/>
            <a:chExt cx="8636000" cy="8928100"/>
          </a:xfrm>
        </p:grpSpPr>
        <p:sp>
          <p:nvSpPr>
            <p:cNvPr id="258" name="Google Shape;258;p17"/>
            <p:cNvSpPr/>
            <p:nvPr/>
          </p:nvSpPr>
          <p:spPr>
            <a:xfrm>
              <a:off x="0" y="0"/>
              <a:ext cx="8636000" cy="8890000"/>
            </a:xfrm>
            <a:custGeom>
              <a:rect b="b" l="l" r="r" t="t"/>
              <a:pathLst>
                <a:path extrusionOk="0" h="8890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0D2636"/>
            </a:solidFill>
            <a:ln cap="sq" cmpd="sng" w="19050">
              <a:solidFill>
                <a:srgbClr val="2946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59" name="Google Shape;259;p17"/>
            <p:cNvSpPr txBox="1"/>
            <p:nvPr/>
          </p:nvSpPr>
          <p:spPr>
            <a:xfrm>
              <a:off x="0" y="-38100"/>
              <a:ext cx="8636000" cy="89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7"/>
          <p:cNvSpPr txBox="1"/>
          <p:nvPr/>
        </p:nvSpPr>
        <p:spPr>
          <a:xfrm>
            <a:off x="781050" y="1533525"/>
            <a:ext cx="4953000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7D3E2"/>
                </a:solidFill>
                <a:latin typeface="IBM Plex Sans"/>
                <a:ea typeface="IBM Plex Sans"/>
                <a:cs typeface="IBM Plex Sans"/>
                <a:sym typeface="IBM Plex Sans"/>
              </a:rPr>
              <a:t>ADMIRALTY CODE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781050" y="2076450"/>
            <a:ext cx="5905500" cy="2402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SOURCE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· Fiable — SIEM / EDR interne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 · Habituellement fiable — VT / OTX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 · Assez fiable — feeds communautaires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5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INFORMATION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Confirmée — plusieurs hôtes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Probable — corrélation IP / C2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Possible — comportementale</a:t>
            </a:r>
            <a:endParaRPr/>
          </a:p>
        </p:txBody>
      </p:sp>
      <p:cxnSp>
        <p:nvCxnSpPr>
          <p:cNvPr id="262" name="Google Shape;262;p17"/>
          <p:cNvCxnSpPr/>
          <p:nvPr/>
        </p:nvCxnSpPr>
        <p:spPr>
          <a:xfrm flipH="1">
            <a:off x="8858250" y="2667000"/>
            <a:ext cx="3381375" cy="1381125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17"/>
          <p:cNvCxnSpPr/>
          <p:nvPr/>
        </p:nvCxnSpPr>
        <p:spPr>
          <a:xfrm>
            <a:off x="12239625" y="2667000"/>
            <a:ext cx="3381375" cy="1381125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17"/>
          <p:cNvCxnSpPr/>
          <p:nvPr/>
        </p:nvCxnSpPr>
        <p:spPr>
          <a:xfrm>
            <a:off x="8858250" y="5524500"/>
            <a:ext cx="3381375" cy="1047750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17"/>
          <p:cNvCxnSpPr/>
          <p:nvPr/>
        </p:nvCxnSpPr>
        <p:spPr>
          <a:xfrm flipH="1">
            <a:off x="12239625" y="5524500"/>
            <a:ext cx="3381375" cy="1047750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6" name="Google Shape;266;p17"/>
          <p:cNvGrpSpPr/>
          <p:nvPr/>
        </p:nvGrpSpPr>
        <p:grpSpPr>
          <a:xfrm>
            <a:off x="10668000" y="1571625"/>
            <a:ext cx="3143250" cy="1095375"/>
            <a:chOff x="0" y="0"/>
            <a:chExt cx="4191000" cy="1460500"/>
          </a:xfrm>
        </p:grpSpPr>
        <p:sp>
          <p:nvSpPr>
            <p:cNvPr id="267" name="Google Shape;267;p17"/>
            <p:cNvSpPr/>
            <p:nvPr/>
          </p:nvSpPr>
          <p:spPr>
            <a:xfrm>
              <a:off x="0" y="0"/>
              <a:ext cx="4191000" cy="1460500"/>
            </a:xfrm>
            <a:custGeom>
              <a:rect b="b" l="l" r="r" t="t"/>
              <a:pathLst>
                <a:path extrusionOk="0" h="1460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406621"/>
                  </a:lnTo>
                  <a:cubicBezTo>
                    <a:pt x="4191000" y="1420911"/>
                    <a:pt x="4185324" y="1434615"/>
                    <a:pt x="4175219" y="1444719"/>
                  </a:cubicBezTo>
                  <a:cubicBezTo>
                    <a:pt x="4165115" y="1454824"/>
                    <a:pt x="4151411" y="1460500"/>
                    <a:pt x="4137121" y="1460500"/>
                  </a:cubicBezTo>
                  <a:lnTo>
                    <a:pt x="53879" y="1460500"/>
                  </a:lnTo>
                  <a:cubicBezTo>
                    <a:pt x="39589" y="1460500"/>
                    <a:pt x="25885" y="1454824"/>
                    <a:pt x="15781" y="1444719"/>
                  </a:cubicBezTo>
                  <a:cubicBezTo>
                    <a:pt x="5676" y="1434615"/>
                    <a:pt x="0" y="1420911"/>
                    <a:pt x="0" y="1406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FF8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7"/>
            <p:cNvSpPr txBox="1"/>
            <p:nvPr/>
          </p:nvSpPr>
          <p:spPr>
            <a:xfrm>
              <a:off x="0" y="9525"/>
              <a:ext cx="4191000" cy="1450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ADVERSAIRE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Cluster-2026-Helios</a:t>
              </a:r>
              <a:endParaRPr/>
            </a:p>
          </p:txBody>
        </p:sp>
      </p:grpSp>
      <p:grpSp>
        <p:nvGrpSpPr>
          <p:cNvPr id="269" name="Google Shape;269;p17"/>
          <p:cNvGrpSpPr/>
          <p:nvPr/>
        </p:nvGrpSpPr>
        <p:grpSpPr>
          <a:xfrm>
            <a:off x="7239000" y="4048125"/>
            <a:ext cx="3238500" cy="1476375"/>
            <a:chOff x="0" y="0"/>
            <a:chExt cx="4318000" cy="1968500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318000" cy="1968500"/>
            </a:xfrm>
            <a:custGeom>
              <a:rect b="b" l="l" r="r" t="t"/>
              <a:pathLst>
                <a:path extrusionOk="0" h="19685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916206"/>
                  </a:lnTo>
                  <a:cubicBezTo>
                    <a:pt x="4318000" y="1945087"/>
                    <a:pt x="4294587" y="1968500"/>
                    <a:pt x="4265706" y="1968500"/>
                  </a:cubicBezTo>
                  <a:lnTo>
                    <a:pt x="52294" y="1968500"/>
                  </a:lnTo>
                  <a:cubicBezTo>
                    <a:pt x="23413" y="1968500"/>
                    <a:pt x="0" y="1945087"/>
                    <a:pt x="0" y="1916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7"/>
            <p:cNvSpPr txBox="1"/>
            <p:nvPr/>
          </p:nvSpPr>
          <p:spPr>
            <a:xfrm>
              <a:off x="0" y="9525"/>
              <a:ext cx="4318000" cy="195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CAPACITÉS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BIN-01/02/03 · LSASS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Tâches planifiées</a:t>
              </a:r>
              <a:endParaRPr/>
            </a:p>
          </p:txBody>
        </p:sp>
      </p:grpSp>
      <p:grpSp>
        <p:nvGrpSpPr>
          <p:cNvPr id="272" name="Google Shape;272;p17"/>
          <p:cNvGrpSpPr/>
          <p:nvPr/>
        </p:nvGrpSpPr>
        <p:grpSpPr>
          <a:xfrm>
            <a:off x="14001750" y="4048125"/>
            <a:ext cx="3238500" cy="1476375"/>
            <a:chOff x="0" y="0"/>
            <a:chExt cx="4318000" cy="1968500"/>
          </a:xfrm>
        </p:grpSpPr>
        <p:sp>
          <p:nvSpPr>
            <p:cNvPr id="273" name="Google Shape;273;p17"/>
            <p:cNvSpPr/>
            <p:nvPr/>
          </p:nvSpPr>
          <p:spPr>
            <a:xfrm>
              <a:off x="0" y="0"/>
              <a:ext cx="4318000" cy="1968500"/>
            </a:xfrm>
            <a:custGeom>
              <a:rect b="b" l="l" r="r" t="t"/>
              <a:pathLst>
                <a:path extrusionOk="0" h="1968500" w="4318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916206"/>
                  </a:lnTo>
                  <a:cubicBezTo>
                    <a:pt x="4318000" y="1945087"/>
                    <a:pt x="4294587" y="1968500"/>
                    <a:pt x="4265706" y="1968500"/>
                  </a:cubicBezTo>
                  <a:lnTo>
                    <a:pt x="52294" y="1968500"/>
                  </a:lnTo>
                  <a:cubicBezTo>
                    <a:pt x="23413" y="1968500"/>
                    <a:pt x="0" y="1945087"/>
                    <a:pt x="0" y="19162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0D26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7"/>
            <p:cNvSpPr txBox="1"/>
            <p:nvPr/>
          </p:nvSpPr>
          <p:spPr>
            <a:xfrm>
              <a:off x="0" y="9525"/>
              <a:ext cx="4318000" cy="195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INFRASTRUCTURE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Droppers · C2 HTTPS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Phishing · Exfiltration</a:t>
              </a:r>
              <a:endParaRPr/>
            </a:p>
          </p:txBody>
        </p:sp>
      </p:grpSp>
      <p:grpSp>
        <p:nvGrpSpPr>
          <p:cNvPr id="275" name="Google Shape;275;p17"/>
          <p:cNvGrpSpPr/>
          <p:nvPr/>
        </p:nvGrpSpPr>
        <p:grpSpPr>
          <a:xfrm>
            <a:off x="10668000" y="6572250"/>
            <a:ext cx="3143250" cy="1190625"/>
            <a:chOff x="0" y="0"/>
            <a:chExt cx="4191000" cy="1587500"/>
          </a:xfrm>
        </p:grpSpPr>
        <p:sp>
          <p:nvSpPr>
            <p:cNvPr id="276" name="Google Shape;276;p17"/>
            <p:cNvSpPr/>
            <p:nvPr/>
          </p:nvSpPr>
          <p:spPr>
            <a:xfrm>
              <a:off x="0" y="0"/>
              <a:ext cx="4191000" cy="1587500"/>
            </a:xfrm>
            <a:custGeom>
              <a:rect b="b" l="l" r="r" t="t"/>
              <a:pathLst>
                <a:path extrusionOk="0" h="15875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533621"/>
                  </a:lnTo>
                  <a:cubicBezTo>
                    <a:pt x="4191000" y="1547911"/>
                    <a:pt x="4185324" y="1561615"/>
                    <a:pt x="4175219" y="1571719"/>
                  </a:cubicBezTo>
                  <a:cubicBezTo>
                    <a:pt x="4165115" y="1581824"/>
                    <a:pt x="4151411" y="1587500"/>
                    <a:pt x="4137121" y="1587500"/>
                  </a:cubicBezTo>
                  <a:lnTo>
                    <a:pt x="53879" y="1587500"/>
                  </a:lnTo>
                  <a:cubicBezTo>
                    <a:pt x="39589" y="1587500"/>
                    <a:pt x="25885" y="1581824"/>
                    <a:pt x="15781" y="1571719"/>
                  </a:cubicBezTo>
                  <a:cubicBezTo>
                    <a:pt x="5676" y="1561615"/>
                    <a:pt x="0" y="1547911"/>
                    <a:pt x="0" y="15336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7"/>
            <p:cNvSpPr txBox="1"/>
            <p:nvPr/>
          </p:nvSpPr>
          <p:spPr>
            <a:xfrm>
              <a:off x="0" y="9525"/>
              <a:ext cx="4191000" cy="157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VICTIME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 IT · AD · Fichiers</a:t>
              </a:r>
              <a:endParaRPr/>
            </a:p>
          </p:txBody>
        </p:sp>
      </p:grpSp>
      <p:sp>
        <p:nvSpPr>
          <p:cNvPr id="278" name="Google Shape;278;p17"/>
          <p:cNvSpPr txBox="1"/>
          <p:nvPr/>
        </p:nvSpPr>
        <p:spPr>
          <a:xfrm>
            <a:off x="9525000" y="8201025"/>
            <a:ext cx="704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DA5B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 02  ·  Graphe de corrélation MISP / Diamond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Kill Chain × MITRE ATT&amp;CK — attribution prudente</a:t>
            </a:r>
            <a:endParaRPr/>
          </a:p>
        </p:txBody>
      </p:sp>
      <p:grpSp>
        <p:nvGrpSpPr>
          <p:cNvPr id="284" name="Google Shape;284;p18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285" name="Google Shape;285;p18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286" name="Google Shape;286;p18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8"/>
          <p:cNvGrpSpPr/>
          <p:nvPr/>
        </p:nvGrpSpPr>
        <p:grpSpPr>
          <a:xfrm>
            <a:off x="666750" y="1400175"/>
            <a:ext cx="9810750" cy="7600950"/>
            <a:chOff x="0" y="-38100"/>
            <a:chExt cx="13081000" cy="10134600"/>
          </a:xfrm>
        </p:grpSpPr>
        <p:sp>
          <p:nvSpPr>
            <p:cNvPr id="288" name="Google Shape;288;p18"/>
            <p:cNvSpPr/>
            <p:nvPr/>
          </p:nvSpPr>
          <p:spPr>
            <a:xfrm>
              <a:off x="0" y="0"/>
              <a:ext cx="13081000" cy="10096500"/>
            </a:xfrm>
            <a:custGeom>
              <a:rect b="b" l="l" r="r" t="t"/>
              <a:pathLst>
                <a:path extrusionOk="0" h="100965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0D2636"/>
            </a:solidFill>
            <a:ln cap="sq" cmpd="sng" w="19050">
              <a:solidFill>
                <a:srgbClr val="294657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89" name="Google Shape;289;p18"/>
            <p:cNvSpPr txBox="1"/>
            <p:nvPr/>
          </p:nvSpPr>
          <p:spPr>
            <a:xfrm>
              <a:off x="0" y="-38100"/>
              <a:ext cx="13081000" cy="101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18"/>
          <p:cNvGrpSpPr/>
          <p:nvPr/>
        </p:nvGrpSpPr>
        <p:grpSpPr>
          <a:xfrm>
            <a:off x="10953750" y="1400175"/>
            <a:ext cx="6667500" cy="7600950"/>
            <a:chOff x="0" y="-38100"/>
            <a:chExt cx="8890000" cy="10134600"/>
          </a:xfrm>
        </p:grpSpPr>
        <p:sp>
          <p:nvSpPr>
            <p:cNvPr id="291" name="Google Shape;291;p18"/>
            <p:cNvSpPr/>
            <p:nvPr/>
          </p:nvSpPr>
          <p:spPr>
            <a:xfrm>
              <a:off x="0" y="0"/>
              <a:ext cx="8890000" cy="10096500"/>
            </a:xfrm>
            <a:custGeom>
              <a:rect b="b" l="l" r="r" t="t"/>
              <a:pathLst>
                <a:path extrusionOk="0" h="10096500" w="8890000">
                  <a:moveTo>
                    <a:pt x="0" y="0"/>
                  </a:moveTo>
                  <a:lnTo>
                    <a:pt x="8890000" y="0"/>
                  </a:lnTo>
                  <a:lnTo>
                    <a:pt x="889000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0D2636"/>
            </a:solidFill>
            <a:ln cap="sq" cmpd="sng" w="19050">
              <a:solidFill>
                <a:srgbClr val="FF8A3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2" name="Google Shape;292;p18"/>
            <p:cNvSpPr txBox="1"/>
            <p:nvPr/>
          </p:nvSpPr>
          <p:spPr>
            <a:xfrm>
              <a:off x="0" y="-38100"/>
              <a:ext cx="8890000" cy="1013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18"/>
          <p:cNvSpPr txBox="1"/>
          <p:nvPr/>
        </p:nvSpPr>
        <p:spPr>
          <a:xfrm>
            <a:off x="1000125" y="17240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Reconnaissance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4095750" y="17335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T1595</a:t>
            </a:r>
            <a:endParaRPr/>
          </a:p>
        </p:txBody>
      </p:sp>
      <p:sp>
        <p:nvSpPr>
          <p:cNvPr id="295" name="Google Shape;295;p18"/>
          <p:cNvSpPr txBox="1"/>
          <p:nvPr/>
        </p:nvSpPr>
        <p:spPr>
          <a:xfrm>
            <a:off x="6762750" y="17240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Active Scanning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1000125" y="26003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Initial Access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4095750" y="26098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T1566.002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6762750" y="26003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Spearphishing Link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1000125" y="34766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Execution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4095750" y="34861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T1059.001</a:t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6762750" y="34766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PowerShell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1000125" y="43529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Persistence</a:t>
            </a:r>
            <a:endParaRPr/>
          </a:p>
        </p:txBody>
      </p:sp>
      <p:sp>
        <p:nvSpPr>
          <p:cNvPr id="303" name="Google Shape;303;p18"/>
          <p:cNvSpPr txBox="1"/>
          <p:nvPr/>
        </p:nvSpPr>
        <p:spPr>
          <a:xfrm>
            <a:off x="4095750" y="43624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T1053.005</a:t>
            </a:r>
            <a:endParaRPr/>
          </a:p>
        </p:txBody>
      </p:sp>
      <p:sp>
        <p:nvSpPr>
          <p:cNvPr id="304" name="Google Shape;304;p18"/>
          <p:cNvSpPr txBox="1"/>
          <p:nvPr/>
        </p:nvSpPr>
        <p:spPr>
          <a:xfrm>
            <a:off x="6762750" y="43529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Scheduled Task</a:t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1000125" y="52292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Credential Access</a:t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4095750" y="52387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T1003.001</a:t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6762750" y="52292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LSASS Memory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1000125" y="61055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Lateral Movement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4095750" y="61150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T1021.002 / .001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6762750" y="61055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SMB / RDP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00125" y="69818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Command &amp; Control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4095750" y="69913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T1071.001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6762750" y="69818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Web Protocols HTTPS</a:t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1000125" y="7858125"/>
            <a:ext cx="2857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Exfiltration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4095750" y="7867650"/>
            <a:ext cx="2476500" cy="264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27D3E2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T1041</a:t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6762750" y="7858125"/>
            <a:ext cx="323850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 C2 Channel</a:t>
            </a:r>
            <a:endParaRPr/>
          </a:p>
        </p:txBody>
      </p:sp>
      <p:sp>
        <p:nvSpPr>
          <p:cNvPr id="317" name="Google Shape;317;p18"/>
          <p:cNvSpPr txBox="1"/>
          <p:nvPr/>
        </p:nvSpPr>
        <p:spPr>
          <a:xfrm>
            <a:off x="11430000" y="1981200"/>
            <a:ext cx="5334000" cy="2858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NOTE D’ATTRIBUTION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Cluster-2026-Helios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Rapprochement partiel APT29 / Sandworm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Confiance : MOYEN · Admiralty B2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Pas de sur-attribution sans preuve. Risque de fausse bannière : outils publics (Mimikatz / Cobalt Strike).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Règles Sigma 01—05</a:t>
            </a:r>
            <a:endParaRPr/>
          </a:p>
        </p:txBody>
      </p:sp>
      <p:grpSp>
        <p:nvGrpSpPr>
          <p:cNvPr id="323" name="Google Shape;323;p19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324" name="Google Shape;324;p19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325" name="Google Shape;325;p19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19"/>
          <p:cNvGrpSpPr/>
          <p:nvPr/>
        </p:nvGrpSpPr>
        <p:grpSpPr>
          <a:xfrm>
            <a:off x="619125" y="1543050"/>
            <a:ext cx="5476875" cy="3362325"/>
            <a:chOff x="0" y="-38100"/>
            <a:chExt cx="7302500" cy="4483100"/>
          </a:xfrm>
        </p:grpSpPr>
        <p:grpSp>
          <p:nvGrpSpPr>
            <p:cNvPr id="327" name="Google Shape;327;p19"/>
            <p:cNvGrpSpPr/>
            <p:nvPr/>
          </p:nvGrpSpPr>
          <p:grpSpPr>
            <a:xfrm>
              <a:off x="0" y="-38100"/>
              <a:ext cx="7239000" cy="4483100"/>
              <a:chOff x="0" y="-38100"/>
              <a:chExt cx="7239000" cy="4483100"/>
            </a:xfrm>
          </p:grpSpPr>
          <p:sp>
            <p:nvSpPr>
              <p:cNvPr id="328" name="Google Shape;328;p19"/>
              <p:cNvSpPr/>
              <p:nvPr/>
            </p:nvSpPr>
            <p:spPr>
              <a:xfrm>
                <a:off x="0" y="0"/>
                <a:ext cx="7239000" cy="4445000"/>
              </a:xfrm>
              <a:custGeom>
                <a:rect b="b" l="l" r="r" t="t"/>
                <a:pathLst>
                  <a:path extrusionOk="0" h="4445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EF535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29" name="Google Shape;329;p19"/>
              <p:cNvSpPr txBox="1"/>
              <p:nvPr/>
            </p:nvSpPr>
            <p:spPr>
              <a:xfrm>
                <a:off x="0" y="-38100"/>
                <a:ext cx="7239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0" name="Google Shape;330;p19"/>
            <p:cNvSpPr txBox="1"/>
            <p:nvPr/>
          </p:nvSpPr>
          <p:spPr>
            <a:xfrm>
              <a:off x="317500" y="317500"/>
              <a:ext cx="6985000" cy="18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  ProcDump LSASS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11a2b3c4-...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category: process_creation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image: procdump.exe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commandline: lsass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critical</a:t>
              </a:r>
              <a:endParaRPr/>
            </a:p>
          </p:txBody>
        </p:sp>
      </p:grpSp>
      <p:grpSp>
        <p:nvGrpSpPr>
          <p:cNvPr id="331" name="Google Shape;331;p19"/>
          <p:cNvGrpSpPr/>
          <p:nvPr/>
        </p:nvGrpSpPr>
        <p:grpSpPr>
          <a:xfrm>
            <a:off x="6334125" y="1543050"/>
            <a:ext cx="5476875" cy="3362325"/>
            <a:chOff x="0" y="-38100"/>
            <a:chExt cx="7302500" cy="4483100"/>
          </a:xfrm>
        </p:grpSpPr>
        <p:grpSp>
          <p:nvGrpSpPr>
            <p:cNvPr id="332" name="Google Shape;332;p19"/>
            <p:cNvGrpSpPr/>
            <p:nvPr/>
          </p:nvGrpSpPr>
          <p:grpSpPr>
            <a:xfrm>
              <a:off x="0" y="-38100"/>
              <a:ext cx="7239000" cy="4483100"/>
              <a:chOff x="0" y="-38100"/>
              <a:chExt cx="7239000" cy="4483100"/>
            </a:xfrm>
          </p:grpSpPr>
          <p:sp>
            <p:nvSpPr>
              <p:cNvPr id="333" name="Google Shape;333;p19"/>
              <p:cNvSpPr/>
              <p:nvPr/>
            </p:nvSpPr>
            <p:spPr>
              <a:xfrm>
                <a:off x="0" y="0"/>
                <a:ext cx="7239000" cy="4445000"/>
              </a:xfrm>
              <a:custGeom>
                <a:rect b="b" l="l" r="r" t="t"/>
                <a:pathLst>
                  <a:path extrusionOk="0" h="4445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34" name="Google Shape;334;p19"/>
              <p:cNvSpPr txBox="1"/>
              <p:nvPr/>
            </p:nvSpPr>
            <p:spPr>
              <a:xfrm>
                <a:off x="0" y="-38100"/>
                <a:ext cx="7239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19"/>
            <p:cNvSpPr txBox="1"/>
            <p:nvPr/>
          </p:nvSpPr>
          <p:spPr>
            <a:xfrm>
              <a:off x="317500" y="317500"/>
              <a:ext cx="69850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  Téléchargement C2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22222222-...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category: proxy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c-uri: cdn-svc-update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high</a:t>
              </a:r>
              <a:endParaRPr/>
            </a:p>
          </p:txBody>
        </p:sp>
      </p:grpSp>
      <p:grpSp>
        <p:nvGrpSpPr>
          <p:cNvPr id="336" name="Google Shape;336;p19"/>
          <p:cNvGrpSpPr/>
          <p:nvPr/>
        </p:nvGrpSpPr>
        <p:grpSpPr>
          <a:xfrm>
            <a:off x="12049125" y="1543050"/>
            <a:ext cx="5476875" cy="3362325"/>
            <a:chOff x="0" y="-38100"/>
            <a:chExt cx="7302500" cy="4483100"/>
          </a:xfrm>
        </p:grpSpPr>
        <p:grpSp>
          <p:nvGrpSpPr>
            <p:cNvPr id="337" name="Google Shape;337;p19"/>
            <p:cNvGrpSpPr/>
            <p:nvPr/>
          </p:nvGrpSpPr>
          <p:grpSpPr>
            <a:xfrm>
              <a:off x="0" y="-38100"/>
              <a:ext cx="7239000" cy="4483100"/>
              <a:chOff x="0" y="-38100"/>
              <a:chExt cx="7239000" cy="4483100"/>
            </a:xfrm>
          </p:grpSpPr>
          <p:sp>
            <p:nvSpPr>
              <p:cNvPr id="338" name="Google Shape;338;p19"/>
              <p:cNvSpPr/>
              <p:nvPr/>
            </p:nvSpPr>
            <p:spPr>
              <a:xfrm>
                <a:off x="0" y="0"/>
                <a:ext cx="7239000" cy="4445000"/>
              </a:xfrm>
              <a:custGeom>
                <a:rect b="b" l="l" r="r" t="t"/>
                <a:pathLst>
                  <a:path extrusionOk="0" h="4445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39" name="Google Shape;339;p19"/>
              <p:cNvSpPr txBox="1"/>
              <p:nvPr/>
            </p:nvSpPr>
            <p:spPr>
              <a:xfrm>
                <a:off x="0" y="-38100"/>
                <a:ext cx="7239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0" name="Google Shape;340;p19"/>
            <p:cNvSpPr txBox="1"/>
            <p:nvPr/>
          </p:nvSpPr>
          <p:spPr>
            <a:xfrm>
              <a:off x="317500" y="317500"/>
              <a:ext cx="69850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  Tâche planifiée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33333333-...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image: schtasks.exe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commandline: /create &amp; Microsoft Edge Update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medium</a:t>
              </a:r>
              <a:endParaRPr/>
            </a:p>
          </p:txBody>
        </p:sp>
      </p:grpSp>
      <p:grpSp>
        <p:nvGrpSpPr>
          <p:cNvPr id="341" name="Google Shape;341;p19"/>
          <p:cNvGrpSpPr/>
          <p:nvPr/>
        </p:nvGrpSpPr>
        <p:grpSpPr>
          <a:xfrm>
            <a:off x="619125" y="5400675"/>
            <a:ext cx="5476875" cy="3362325"/>
            <a:chOff x="0" y="-38100"/>
            <a:chExt cx="7302500" cy="4483100"/>
          </a:xfrm>
        </p:grpSpPr>
        <p:grpSp>
          <p:nvGrpSpPr>
            <p:cNvPr id="342" name="Google Shape;342;p19"/>
            <p:cNvGrpSpPr/>
            <p:nvPr/>
          </p:nvGrpSpPr>
          <p:grpSpPr>
            <a:xfrm>
              <a:off x="0" y="-38100"/>
              <a:ext cx="7239000" cy="4483100"/>
              <a:chOff x="0" y="-38100"/>
              <a:chExt cx="7239000" cy="4483100"/>
            </a:xfrm>
          </p:grpSpPr>
          <p:sp>
            <p:nvSpPr>
              <p:cNvPr id="343" name="Google Shape;343;p19"/>
              <p:cNvSpPr/>
              <p:nvPr/>
            </p:nvSpPr>
            <p:spPr>
              <a:xfrm>
                <a:off x="0" y="0"/>
                <a:ext cx="7239000" cy="4445000"/>
              </a:xfrm>
              <a:custGeom>
                <a:rect b="b" l="l" r="r" t="t"/>
                <a:pathLst>
                  <a:path extrusionOk="0" h="4445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44" name="Google Shape;344;p19"/>
              <p:cNvSpPr txBox="1"/>
              <p:nvPr/>
            </p:nvSpPr>
            <p:spPr>
              <a:xfrm>
                <a:off x="0" y="-38100"/>
                <a:ext cx="7239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5" name="Google Shape;345;p19"/>
            <p:cNvSpPr txBox="1"/>
            <p:nvPr/>
          </p:nvSpPr>
          <p:spPr>
            <a:xfrm>
              <a:off x="317500" y="317500"/>
              <a:ext cx="6985000" cy="1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04  Registre Run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44444444-...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targetobject: CurrentVersion\Run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details: WinTelemetry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high</a:t>
              </a:r>
              <a:endParaRPr/>
            </a:p>
          </p:txBody>
        </p:sp>
      </p:grpSp>
      <p:grpSp>
        <p:nvGrpSpPr>
          <p:cNvPr id="346" name="Google Shape;346;p19"/>
          <p:cNvGrpSpPr/>
          <p:nvPr/>
        </p:nvGrpSpPr>
        <p:grpSpPr>
          <a:xfrm>
            <a:off x="6334125" y="5400675"/>
            <a:ext cx="5476875" cy="3362325"/>
            <a:chOff x="0" y="-38100"/>
            <a:chExt cx="7302500" cy="4483100"/>
          </a:xfrm>
        </p:grpSpPr>
        <p:grpSp>
          <p:nvGrpSpPr>
            <p:cNvPr id="347" name="Google Shape;347;p19"/>
            <p:cNvGrpSpPr/>
            <p:nvPr/>
          </p:nvGrpSpPr>
          <p:grpSpPr>
            <a:xfrm>
              <a:off x="0" y="-38100"/>
              <a:ext cx="7239000" cy="4483100"/>
              <a:chOff x="0" y="-38100"/>
              <a:chExt cx="7239000" cy="4483100"/>
            </a:xfrm>
          </p:grpSpPr>
          <p:sp>
            <p:nvSpPr>
              <p:cNvPr id="348" name="Google Shape;348;p19"/>
              <p:cNvSpPr/>
              <p:nvPr/>
            </p:nvSpPr>
            <p:spPr>
              <a:xfrm>
                <a:off x="0" y="0"/>
                <a:ext cx="7239000" cy="4445000"/>
              </a:xfrm>
              <a:custGeom>
                <a:rect b="b" l="l" r="r" t="t"/>
                <a:pathLst>
                  <a:path extrusionOk="0" h="4445000" w="7239000">
                    <a:moveTo>
                      <a:pt x="0" y="0"/>
                    </a:moveTo>
                    <a:lnTo>
                      <a:pt x="7239000" y="0"/>
                    </a:lnTo>
                    <a:lnTo>
                      <a:pt x="7239000" y="4445000"/>
                    </a:lnTo>
                    <a:lnTo>
                      <a:pt x="0" y="4445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49" name="Google Shape;349;p19"/>
              <p:cNvSpPr txBox="1"/>
              <p:nvPr/>
            </p:nvSpPr>
            <p:spPr>
              <a:xfrm>
                <a:off x="0" y="-38100"/>
                <a:ext cx="7239000" cy="448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" name="Google Shape;350;p19"/>
            <p:cNvSpPr txBox="1"/>
            <p:nvPr/>
          </p:nvSpPr>
          <p:spPr>
            <a:xfrm>
              <a:off x="317500" y="317500"/>
              <a:ext cx="6985000" cy="12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05  Scan ports interne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55555555-...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sourceip: 198.51.100.55</a:t>
              </a:r>
              <a:endParaRPr/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medium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Règles Sigma 06—10</a:t>
            </a:r>
            <a:endParaRPr/>
          </a:p>
        </p:txBody>
      </p:sp>
      <p:grpSp>
        <p:nvGrpSpPr>
          <p:cNvPr id="356" name="Google Shape;356;p20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357" name="Google Shape;357;p20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358" name="Google Shape;358;p20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20"/>
          <p:cNvGrpSpPr/>
          <p:nvPr/>
        </p:nvGrpSpPr>
        <p:grpSpPr>
          <a:xfrm>
            <a:off x="619125" y="1447800"/>
            <a:ext cx="3381375" cy="4981575"/>
            <a:chOff x="0" y="-38100"/>
            <a:chExt cx="4508500" cy="6642100"/>
          </a:xfrm>
        </p:grpSpPr>
        <p:grpSp>
          <p:nvGrpSpPr>
            <p:cNvPr id="360" name="Google Shape;360;p20"/>
            <p:cNvGrpSpPr/>
            <p:nvPr/>
          </p:nvGrpSpPr>
          <p:grpSpPr>
            <a:xfrm>
              <a:off x="0" y="-38100"/>
              <a:ext cx="4381500" cy="6642100"/>
              <a:chOff x="0" y="-38100"/>
              <a:chExt cx="4381500" cy="6642100"/>
            </a:xfrm>
          </p:grpSpPr>
          <p:sp>
            <p:nvSpPr>
              <p:cNvPr id="361" name="Google Shape;361;p20"/>
              <p:cNvSpPr/>
              <p:nvPr/>
            </p:nvSpPr>
            <p:spPr>
              <a:xfrm>
                <a:off x="0" y="0"/>
                <a:ext cx="4381500" cy="6604000"/>
              </a:xfrm>
              <a:custGeom>
                <a:rect b="b" l="l" r="r" t="t"/>
                <a:pathLst>
                  <a:path extrusionOk="0" h="6604000" w="4381500">
                    <a:moveTo>
                      <a:pt x="0" y="0"/>
                    </a:moveTo>
                    <a:lnTo>
                      <a:pt x="4381500" y="0"/>
                    </a:lnTo>
                    <a:lnTo>
                      <a:pt x="43815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62" name="Google Shape;362;p20"/>
              <p:cNvSpPr txBox="1"/>
              <p:nvPr/>
            </p:nvSpPr>
            <p:spPr>
              <a:xfrm>
                <a:off x="0" y="-38100"/>
                <a:ext cx="4381500" cy="664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3" name="Google Shape;363;p20"/>
            <p:cNvSpPr txBox="1"/>
            <p:nvPr/>
          </p:nvSpPr>
          <p:spPr>
            <a:xfrm>
              <a:off x="317500" y="244475"/>
              <a:ext cx="4191000" cy="1674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06  Session RDP anormale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66666666-...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eventid: 4624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logontype: 10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ipaddress: 203.0.113.44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high</a:t>
              </a:r>
              <a:endParaRPr/>
            </a:p>
          </p:txBody>
        </p:sp>
      </p:grpSp>
      <p:grpSp>
        <p:nvGrpSpPr>
          <p:cNvPr id="364" name="Google Shape;364;p20"/>
          <p:cNvGrpSpPr/>
          <p:nvPr/>
        </p:nvGrpSpPr>
        <p:grpSpPr>
          <a:xfrm>
            <a:off x="4048125" y="1447800"/>
            <a:ext cx="3381375" cy="4981575"/>
            <a:chOff x="0" y="-38100"/>
            <a:chExt cx="4508500" cy="6642100"/>
          </a:xfrm>
        </p:grpSpPr>
        <p:grpSp>
          <p:nvGrpSpPr>
            <p:cNvPr id="365" name="Google Shape;365;p20"/>
            <p:cNvGrpSpPr/>
            <p:nvPr/>
          </p:nvGrpSpPr>
          <p:grpSpPr>
            <a:xfrm>
              <a:off x="0" y="-38100"/>
              <a:ext cx="4381500" cy="6642100"/>
              <a:chOff x="0" y="-38100"/>
              <a:chExt cx="4381500" cy="6642100"/>
            </a:xfrm>
          </p:grpSpPr>
          <p:sp>
            <p:nvSpPr>
              <p:cNvPr id="366" name="Google Shape;366;p20"/>
              <p:cNvSpPr/>
              <p:nvPr/>
            </p:nvSpPr>
            <p:spPr>
              <a:xfrm>
                <a:off x="0" y="0"/>
                <a:ext cx="4381500" cy="6604000"/>
              </a:xfrm>
              <a:custGeom>
                <a:rect b="b" l="l" r="r" t="t"/>
                <a:pathLst>
                  <a:path extrusionOk="0" h="6604000" w="4381500">
                    <a:moveTo>
                      <a:pt x="0" y="0"/>
                    </a:moveTo>
                    <a:lnTo>
                      <a:pt x="4381500" y="0"/>
                    </a:lnTo>
                    <a:lnTo>
                      <a:pt x="43815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67" name="Google Shape;367;p20"/>
              <p:cNvSpPr txBox="1"/>
              <p:nvPr/>
            </p:nvSpPr>
            <p:spPr>
              <a:xfrm>
                <a:off x="0" y="-38100"/>
                <a:ext cx="4381500" cy="664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" name="Google Shape;368;p20"/>
            <p:cNvSpPr txBox="1"/>
            <p:nvPr/>
          </p:nvSpPr>
          <p:spPr>
            <a:xfrm>
              <a:off x="317500" y="244475"/>
              <a:ext cx="4191000" cy="1395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07  Injection explorer.exe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77777777-...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targetimage: explorer.exe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category: create_remote_thread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high</a:t>
              </a:r>
              <a:endParaRPr/>
            </a:p>
          </p:txBody>
        </p:sp>
      </p:grpSp>
      <p:grpSp>
        <p:nvGrpSpPr>
          <p:cNvPr id="369" name="Google Shape;369;p20"/>
          <p:cNvGrpSpPr/>
          <p:nvPr/>
        </p:nvGrpSpPr>
        <p:grpSpPr>
          <a:xfrm>
            <a:off x="7477125" y="1447800"/>
            <a:ext cx="3381375" cy="4981575"/>
            <a:chOff x="0" y="-38100"/>
            <a:chExt cx="4508500" cy="6642100"/>
          </a:xfrm>
        </p:grpSpPr>
        <p:grpSp>
          <p:nvGrpSpPr>
            <p:cNvPr id="370" name="Google Shape;370;p20"/>
            <p:cNvGrpSpPr/>
            <p:nvPr/>
          </p:nvGrpSpPr>
          <p:grpSpPr>
            <a:xfrm>
              <a:off x="0" y="-38100"/>
              <a:ext cx="4381500" cy="6642100"/>
              <a:chOff x="0" y="-38100"/>
              <a:chExt cx="4381500" cy="6642100"/>
            </a:xfrm>
          </p:grpSpPr>
          <p:sp>
            <p:nvSpPr>
              <p:cNvPr id="371" name="Google Shape;371;p20"/>
              <p:cNvSpPr/>
              <p:nvPr/>
            </p:nvSpPr>
            <p:spPr>
              <a:xfrm>
                <a:off x="0" y="0"/>
                <a:ext cx="4381500" cy="6604000"/>
              </a:xfrm>
              <a:custGeom>
                <a:rect b="b" l="l" r="r" t="t"/>
                <a:pathLst>
                  <a:path extrusionOk="0" h="6604000" w="4381500">
                    <a:moveTo>
                      <a:pt x="0" y="0"/>
                    </a:moveTo>
                    <a:lnTo>
                      <a:pt x="4381500" y="0"/>
                    </a:lnTo>
                    <a:lnTo>
                      <a:pt x="43815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EF535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72" name="Google Shape;372;p20"/>
              <p:cNvSpPr txBox="1"/>
              <p:nvPr/>
            </p:nvSpPr>
            <p:spPr>
              <a:xfrm>
                <a:off x="0" y="-38100"/>
                <a:ext cx="4381500" cy="664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3" name="Google Shape;373;p20"/>
            <p:cNvSpPr txBox="1"/>
            <p:nvPr/>
          </p:nvSpPr>
          <p:spPr>
            <a:xfrm>
              <a:off x="317500" y="244475"/>
              <a:ext cx="4191000" cy="1395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08  Accès mémoire LSASS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88888888-...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targetimage: lsass.exe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grantedaccess: 0x1010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critical</a:t>
              </a:r>
              <a:endParaRPr/>
            </a:p>
          </p:txBody>
        </p:sp>
      </p:grpSp>
      <p:grpSp>
        <p:nvGrpSpPr>
          <p:cNvPr id="374" name="Google Shape;374;p20"/>
          <p:cNvGrpSpPr/>
          <p:nvPr/>
        </p:nvGrpSpPr>
        <p:grpSpPr>
          <a:xfrm>
            <a:off x="10906125" y="1447800"/>
            <a:ext cx="3381375" cy="4981575"/>
            <a:chOff x="0" y="-38100"/>
            <a:chExt cx="4508500" cy="6642100"/>
          </a:xfrm>
        </p:grpSpPr>
        <p:grpSp>
          <p:nvGrpSpPr>
            <p:cNvPr id="375" name="Google Shape;375;p20"/>
            <p:cNvGrpSpPr/>
            <p:nvPr/>
          </p:nvGrpSpPr>
          <p:grpSpPr>
            <a:xfrm>
              <a:off x="0" y="-38100"/>
              <a:ext cx="4381500" cy="6642100"/>
              <a:chOff x="0" y="-38100"/>
              <a:chExt cx="4381500" cy="6642100"/>
            </a:xfrm>
          </p:grpSpPr>
          <p:sp>
            <p:nvSpPr>
              <p:cNvPr id="376" name="Google Shape;376;p20"/>
              <p:cNvSpPr/>
              <p:nvPr/>
            </p:nvSpPr>
            <p:spPr>
              <a:xfrm>
                <a:off x="0" y="0"/>
                <a:ext cx="4381500" cy="6604000"/>
              </a:xfrm>
              <a:custGeom>
                <a:rect b="b" l="l" r="r" t="t"/>
                <a:pathLst>
                  <a:path extrusionOk="0" h="6604000" w="4381500">
                    <a:moveTo>
                      <a:pt x="0" y="0"/>
                    </a:moveTo>
                    <a:lnTo>
                      <a:pt x="4381500" y="0"/>
                    </a:lnTo>
                    <a:lnTo>
                      <a:pt x="43815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94657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77" name="Google Shape;377;p20"/>
              <p:cNvSpPr txBox="1"/>
              <p:nvPr/>
            </p:nvSpPr>
            <p:spPr>
              <a:xfrm>
                <a:off x="0" y="-38100"/>
                <a:ext cx="4381500" cy="664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8" name="Google Shape;378;p20"/>
            <p:cNvSpPr txBox="1"/>
            <p:nvPr/>
          </p:nvSpPr>
          <p:spPr>
            <a:xfrm>
              <a:off x="317500" y="244475"/>
              <a:ext cx="4191000" cy="1674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09  Compte AD temporaire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99999999-...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eventid: 4720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targetusername: svc-backup-temp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high</a:t>
              </a:r>
              <a:endParaRPr/>
            </a:p>
          </p:txBody>
        </p:sp>
      </p:grpSp>
      <p:grpSp>
        <p:nvGrpSpPr>
          <p:cNvPr id="379" name="Google Shape;379;p20"/>
          <p:cNvGrpSpPr/>
          <p:nvPr/>
        </p:nvGrpSpPr>
        <p:grpSpPr>
          <a:xfrm>
            <a:off x="14335125" y="1447800"/>
            <a:ext cx="3381375" cy="4981575"/>
            <a:chOff x="0" y="-38100"/>
            <a:chExt cx="4508500" cy="6642100"/>
          </a:xfrm>
        </p:grpSpPr>
        <p:grpSp>
          <p:nvGrpSpPr>
            <p:cNvPr id="380" name="Google Shape;380;p20"/>
            <p:cNvGrpSpPr/>
            <p:nvPr/>
          </p:nvGrpSpPr>
          <p:grpSpPr>
            <a:xfrm>
              <a:off x="0" y="-38100"/>
              <a:ext cx="4381500" cy="6642100"/>
              <a:chOff x="0" y="-38100"/>
              <a:chExt cx="4381500" cy="6642100"/>
            </a:xfrm>
          </p:grpSpPr>
          <p:sp>
            <p:nvSpPr>
              <p:cNvPr id="381" name="Google Shape;381;p20"/>
              <p:cNvSpPr/>
              <p:nvPr/>
            </p:nvSpPr>
            <p:spPr>
              <a:xfrm>
                <a:off x="0" y="0"/>
                <a:ext cx="4381500" cy="6604000"/>
              </a:xfrm>
              <a:custGeom>
                <a:rect b="b" l="l" r="r" t="t"/>
                <a:pathLst>
                  <a:path extrusionOk="0" h="6604000" w="4381500">
                    <a:moveTo>
                      <a:pt x="0" y="0"/>
                    </a:moveTo>
                    <a:lnTo>
                      <a:pt x="4381500" y="0"/>
                    </a:lnTo>
                    <a:lnTo>
                      <a:pt x="4381500" y="6604000"/>
                    </a:lnTo>
                    <a:lnTo>
                      <a:pt x="0" y="660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EF535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382" name="Google Shape;382;p20"/>
              <p:cNvSpPr txBox="1"/>
              <p:nvPr/>
            </p:nvSpPr>
            <p:spPr>
              <a:xfrm>
                <a:off x="0" y="-38100"/>
                <a:ext cx="4381500" cy="664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3" name="Google Shape;383;p20"/>
            <p:cNvSpPr txBox="1"/>
            <p:nvPr/>
          </p:nvSpPr>
          <p:spPr>
            <a:xfrm>
              <a:off x="317500" y="244475"/>
              <a:ext cx="4191000" cy="1395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10  Effacement Security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id: 10101010-...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image: wevtutil.exe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commandline: cl &amp; Security</a:t>
              </a:r>
              <a:endParaRPr/>
            </a:p>
            <a:p>
              <a:pPr indent="0" lvl="0" marL="0" marR="0" rtl="0" algn="l">
                <a:lnSpc>
                  <a:spcPct val="124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level: critical</a:t>
              </a:r>
              <a:endParaRPr/>
            </a:p>
          </p:txBody>
        </p:sp>
      </p:grpSp>
      <p:pic>
        <p:nvPicPr>
          <p:cNvPr id="384" name="Google Shape;38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5050" y="5511013"/>
            <a:ext cx="68389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8900" y="4777600"/>
            <a:ext cx="6838950" cy="4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8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2634"/>
                </a:solidFill>
                <a:latin typeface="Montserrat"/>
                <a:ea typeface="Montserrat"/>
                <a:cs typeface="Montserrat"/>
                <a:sym typeface="Montserrat"/>
              </a:rPr>
              <a:t>Notification obligatoire — LPM / NIS 2</a:t>
            </a:r>
            <a:endParaRPr/>
          </a:p>
        </p:txBody>
      </p:sp>
      <p:grpSp>
        <p:nvGrpSpPr>
          <p:cNvPr id="391" name="Google Shape;391;p21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392" name="Google Shape;392;p21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393" name="Google Shape;393;p21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21"/>
          <p:cNvSpPr txBox="1"/>
          <p:nvPr/>
        </p:nvSpPr>
        <p:spPr>
          <a:xfrm>
            <a:off x="952500" y="1666875"/>
            <a:ext cx="6667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EF5350"/>
                </a:solidFill>
                <a:latin typeface="Montserrat"/>
                <a:ea typeface="Montserrat"/>
                <a:cs typeface="Montserrat"/>
                <a:sym typeface="Montserrat"/>
              </a:rPr>
              <a:t>INCIDENT MAJEUR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952500" y="3124200"/>
            <a:ext cx="6858000" cy="57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OBJET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Notification obligatoire d’incident de sécurité</a:t>
            </a:r>
            <a:endParaRPr/>
          </a:p>
        </p:txBody>
      </p:sp>
      <p:sp>
        <p:nvSpPr>
          <p:cNvPr id="396" name="Google Shape;396;p21"/>
          <p:cNvSpPr txBox="1"/>
          <p:nvPr/>
        </p:nvSpPr>
        <p:spPr>
          <a:xfrm>
            <a:off x="952500" y="4600575"/>
            <a:ext cx="6858000" cy="57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DESTINATAIRES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COSSI / ANSSI &amp; CNIL</a:t>
            </a:r>
            <a:endParaRPr/>
          </a:p>
        </p:txBody>
      </p:sp>
      <p:sp>
        <p:nvSpPr>
          <p:cNvPr id="397" name="Google Shape;397;p21"/>
          <p:cNvSpPr txBox="1"/>
          <p:nvPr/>
        </p:nvSpPr>
        <p:spPr>
          <a:xfrm>
            <a:off x="952500" y="5791200"/>
            <a:ext cx="6858000" cy="572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ÉMETTEUR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RSSI Helios Energy</a:t>
            </a:r>
            <a:endParaRPr/>
          </a:p>
        </p:txBody>
      </p:sp>
      <p:grpSp>
        <p:nvGrpSpPr>
          <p:cNvPr id="398" name="Google Shape;398;p21"/>
          <p:cNvGrpSpPr/>
          <p:nvPr/>
        </p:nvGrpSpPr>
        <p:grpSpPr>
          <a:xfrm>
            <a:off x="9144000" y="1781175"/>
            <a:ext cx="7810500" cy="6219825"/>
            <a:chOff x="0" y="-38100"/>
            <a:chExt cx="10414000" cy="8293100"/>
          </a:xfrm>
        </p:grpSpPr>
        <p:grpSp>
          <p:nvGrpSpPr>
            <p:cNvPr id="399" name="Google Shape;399;p21"/>
            <p:cNvGrpSpPr/>
            <p:nvPr/>
          </p:nvGrpSpPr>
          <p:grpSpPr>
            <a:xfrm>
              <a:off x="0" y="-38100"/>
              <a:ext cx="10414000" cy="8293100"/>
              <a:chOff x="0" y="-38100"/>
              <a:chExt cx="10414000" cy="8293100"/>
            </a:xfrm>
          </p:grpSpPr>
          <p:sp>
            <p:nvSpPr>
              <p:cNvPr id="400" name="Google Shape;400;p21"/>
              <p:cNvSpPr/>
              <p:nvPr/>
            </p:nvSpPr>
            <p:spPr>
              <a:xfrm>
                <a:off x="0" y="0"/>
                <a:ext cx="10414000" cy="8255000"/>
              </a:xfrm>
              <a:custGeom>
                <a:rect b="b" l="l" r="r" t="t"/>
                <a:pathLst>
                  <a:path extrusionOk="0" h="8255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27D3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01" name="Google Shape;401;p21"/>
              <p:cNvSpPr txBox="1"/>
              <p:nvPr/>
            </p:nvSpPr>
            <p:spPr>
              <a:xfrm>
                <a:off x="0" y="-38100"/>
                <a:ext cx="10414000" cy="829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2" name="Google Shape;402;p21"/>
            <p:cNvSpPr txBox="1"/>
            <p:nvPr/>
          </p:nvSpPr>
          <p:spPr>
            <a:xfrm>
              <a:off x="1016000" y="806450"/>
              <a:ext cx="8255000" cy="3278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SYNTHÈSE INCIDENT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Tentative de compromission Active Directory et exfiltration de 2,3 Go de données IT.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75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7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Réseau OT / SCADA : étanche et totalement préservé.</a:t>
              </a:r>
              <a:endParaRPr/>
            </a:p>
          </p:txBody>
        </p:sp>
      </p:grpSp>
      <p:grpSp>
        <p:nvGrpSpPr>
          <p:cNvPr id="403" name="Google Shape;403;p21"/>
          <p:cNvGrpSpPr/>
          <p:nvPr/>
        </p:nvGrpSpPr>
        <p:grpSpPr>
          <a:xfrm>
            <a:off x="952500" y="8239125"/>
            <a:ext cx="16002000" cy="1000125"/>
            <a:chOff x="0" y="0"/>
            <a:chExt cx="21336000" cy="1333500"/>
          </a:xfrm>
        </p:grpSpPr>
        <p:sp>
          <p:nvSpPr>
            <p:cNvPr id="404" name="Google Shape;404;p21"/>
            <p:cNvSpPr/>
            <p:nvPr/>
          </p:nvSpPr>
          <p:spPr>
            <a:xfrm>
              <a:off x="0" y="0"/>
              <a:ext cx="21336000" cy="1333500"/>
            </a:xfrm>
            <a:custGeom>
              <a:rect b="b" l="l" r="r" t="t"/>
              <a:pathLst>
                <a:path extrusionOk="0" h="1333500" w="21336000">
                  <a:moveTo>
                    <a:pt x="10583" y="0"/>
                  </a:moveTo>
                  <a:lnTo>
                    <a:pt x="21325416" y="0"/>
                  </a:lnTo>
                  <a:cubicBezTo>
                    <a:pt x="21328224" y="0"/>
                    <a:pt x="21330915" y="1115"/>
                    <a:pt x="21332901" y="3100"/>
                  </a:cubicBezTo>
                  <a:cubicBezTo>
                    <a:pt x="21334885" y="5085"/>
                    <a:pt x="21336000" y="7776"/>
                    <a:pt x="21336000" y="10583"/>
                  </a:cubicBezTo>
                  <a:lnTo>
                    <a:pt x="21336000" y="1322917"/>
                  </a:lnTo>
                  <a:cubicBezTo>
                    <a:pt x="21336000" y="1325724"/>
                    <a:pt x="21334885" y="1328415"/>
                    <a:pt x="21332901" y="1330400"/>
                  </a:cubicBezTo>
                  <a:cubicBezTo>
                    <a:pt x="21330915" y="1332385"/>
                    <a:pt x="21328224" y="1333500"/>
                    <a:pt x="21325416" y="1333500"/>
                  </a:cubicBezTo>
                  <a:lnTo>
                    <a:pt x="10583" y="1333500"/>
                  </a:lnTo>
                  <a:cubicBezTo>
                    <a:pt x="7776" y="1333500"/>
                    <a:pt x="5085" y="1332385"/>
                    <a:pt x="3100" y="1330400"/>
                  </a:cubicBezTo>
                  <a:cubicBezTo>
                    <a:pt x="1115" y="1328415"/>
                    <a:pt x="0" y="1325724"/>
                    <a:pt x="0" y="1322917"/>
                  </a:cubicBezTo>
                  <a:lnTo>
                    <a:pt x="0" y="10583"/>
                  </a:lnTo>
                  <a:cubicBezTo>
                    <a:pt x="0" y="7776"/>
                    <a:pt x="1115" y="5085"/>
                    <a:pt x="3100" y="3100"/>
                  </a:cubicBezTo>
                  <a:cubicBezTo>
                    <a:pt x="5085" y="1115"/>
                    <a:pt x="7776" y="0"/>
                    <a:pt x="10583" y="0"/>
                  </a:cubicBezTo>
                  <a:close/>
                </a:path>
              </a:pathLst>
            </a:custGeom>
            <a:solidFill>
              <a:srgbClr val="1026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 txBox="1"/>
            <p:nvPr/>
          </p:nvSpPr>
          <p:spPr>
            <a:xfrm>
              <a:off x="0" y="9525"/>
              <a:ext cx="213360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Qualification · SI de gestion d’un Opérateur d’Importance Vitale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8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2634"/>
                </a:solidFill>
                <a:latin typeface="Montserrat"/>
                <a:ea typeface="Montserrat"/>
                <a:cs typeface="Montserrat"/>
                <a:sym typeface="Montserrat"/>
              </a:rPr>
              <a:t>Délais légaux &amp; mesures conservatoires</a:t>
            </a:r>
            <a:endParaRPr/>
          </a:p>
        </p:txBody>
      </p:sp>
      <p:grpSp>
        <p:nvGrpSpPr>
          <p:cNvPr id="411" name="Google Shape;411;p22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412" name="Google Shape;412;p22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413" name="Google Shape;413;p22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2"/>
          <p:cNvGrpSpPr/>
          <p:nvPr/>
        </p:nvGrpSpPr>
        <p:grpSpPr>
          <a:xfrm>
            <a:off x="666750" y="1400175"/>
            <a:ext cx="5715000" cy="7458075"/>
            <a:chOff x="0" y="-38100"/>
            <a:chExt cx="7620000" cy="9944100"/>
          </a:xfrm>
        </p:grpSpPr>
        <p:grpSp>
          <p:nvGrpSpPr>
            <p:cNvPr id="415" name="Google Shape;415;p22"/>
            <p:cNvGrpSpPr/>
            <p:nvPr/>
          </p:nvGrpSpPr>
          <p:grpSpPr>
            <a:xfrm>
              <a:off x="0" y="-38100"/>
              <a:ext cx="7620000" cy="9944100"/>
              <a:chOff x="0" y="-38100"/>
              <a:chExt cx="7620000" cy="9944100"/>
            </a:xfrm>
          </p:grpSpPr>
          <p:sp>
            <p:nvSpPr>
              <p:cNvPr id="416" name="Google Shape;416;p22"/>
              <p:cNvSpPr/>
              <p:nvPr/>
            </p:nvSpPr>
            <p:spPr>
              <a:xfrm>
                <a:off x="0" y="0"/>
                <a:ext cx="7620000" cy="9906000"/>
              </a:xfrm>
              <a:custGeom>
                <a:rect b="b" l="l" r="r" t="t"/>
                <a:pathLst>
                  <a:path extrusionOk="0" h="9906000" w="76200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FF8A3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17" name="Google Shape;417;p22"/>
              <p:cNvSpPr txBox="1"/>
              <p:nvPr/>
            </p:nvSpPr>
            <p:spPr>
              <a:xfrm>
                <a:off x="0" y="-38100"/>
                <a:ext cx="7620000" cy="994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8" name="Google Shape;418;p22"/>
            <p:cNvSpPr txBox="1"/>
            <p:nvPr/>
          </p:nvSpPr>
          <p:spPr>
            <a:xfrm>
              <a:off x="508000" y="342900"/>
              <a:ext cx="3556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ANSSI</a:t>
              </a:r>
              <a:endParaRPr/>
            </a:p>
          </p:txBody>
        </p:sp>
        <p:sp>
          <p:nvSpPr>
            <p:cNvPr id="419" name="Google Shape;419;p22"/>
            <p:cNvSpPr txBox="1"/>
            <p:nvPr/>
          </p:nvSpPr>
          <p:spPr>
            <a:xfrm>
              <a:off x="444500" y="819150"/>
              <a:ext cx="3810000" cy="149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750" u="none" cap="none" strike="noStrike">
                  <a:solidFill>
                    <a:srgbClr val="FF8A3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24 h</a:t>
              </a:r>
              <a:endParaRPr/>
            </a:p>
          </p:txBody>
        </p:sp>
        <p:sp>
          <p:nvSpPr>
            <p:cNvPr id="420" name="Google Shape;420;p22"/>
            <p:cNvSpPr txBox="1"/>
            <p:nvPr/>
          </p:nvSpPr>
          <p:spPr>
            <a:xfrm>
              <a:off x="508000" y="2330450"/>
              <a:ext cx="6350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notification initiale dès confirmation</a:t>
              </a:r>
              <a:endParaRPr/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444500" y="3676650"/>
              <a:ext cx="3810000" cy="149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750" u="none" cap="none" strike="noStrike">
                  <a:solidFill>
                    <a:srgbClr val="27D3E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72 h</a:t>
              </a:r>
              <a:endParaRPr/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508000" y="5187950"/>
              <a:ext cx="5080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rapport détaillé</a:t>
              </a:r>
              <a:endParaRPr/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444500" y="6664325"/>
              <a:ext cx="5715000" cy="79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10263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CNIL · 72 h</a:t>
              </a:r>
              <a:endParaRPr/>
            </a:p>
          </p:txBody>
        </p:sp>
        <p:sp>
          <p:nvSpPr>
            <p:cNvPr id="424" name="Google Shape;424;p22"/>
            <p:cNvSpPr txBox="1"/>
            <p:nvPr/>
          </p:nvSpPr>
          <p:spPr>
            <a:xfrm>
              <a:off x="508000" y="7600950"/>
              <a:ext cx="6604000" cy="756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 suspicion de fuite de données personnelles / RGPD</a:t>
              </a:r>
              <a:endParaRPr/>
            </a:p>
          </p:txBody>
        </p:sp>
      </p:grpSp>
      <p:grpSp>
        <p:nvGrpSpPr>
          <p:cNvPr id="425" name="Google Shape;425;p22"/>
          <p:cNvGrpSpPr/>
          <p:nvPr/>
        </p:nvGrpSpPr>
        <p:grpSpPr>
          <a:xfrm>
            <a:off x="7048500" y="1400175"/>
            <a:ext cx="10572750" cy="7458075"/>
            <a:chOff x="0" y="-38100"/>
            <a:chExt cx="14097000" cy="9944100"/>
          </a:xfrm>
        </p:grpSpPr>
        <p:grpSp>
          <p:nvGrpSpPr>
            <p:cNvPr id="426" name="Google Shape;426;p22"/>
            <p:cNvGrpSpPr/>
            <p:nvPr/>
          </p:nvGrpSpPr>
          <p:grpSpPr>
            <a:xfrm>
              <a:off x="0" y="-38100"/>
              <a:ext cx="14097000" cy="9944100"/>
              <a:chOff x="0" y="-38100"/>
              <a:chExt cx="14097000" cy="9944100"/>
            </a:xfrm>
          </p:grpSpPr>
          <p:sp>
            <p:nvSpPr>
              <p:cNvPr id="427" name="Google Shape;427;p22"/>
              <p:cNvSpPr/>
              <p:nvPr/>
            </p:nvSpPr>
            <p:spPr>
              <a:xfrm>
                <a:off x="0" y="0"/>
                <a:ext cx="14097000" cy="9906000"/>
              </a:xfrm>
              <a:custGeom>
                <a:rect b="b" l="l" r="r" t="t"/>
                <a:pathLst>
                  <a:path extrusionOk="0" h="9906000" w="14097000">
                    <a:moveTo>
                      <a:pt x="0" y="0"/>
                    </a:moveTo>
                    <a:lnTo>
                      <a:pt x="14097000" y="0"/>
                    </a:lnTo>
                    <a:lnTo>
                      <a:pt x="14097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27D3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28" name="Google Shape;428;p22"/>
              <p:cNvSpPr txBox="1"/>
              <p:nvPr/>
            </p:nvSpPr>
            <p:spPr>
              <a:xfrm>
                <a:off x="0" y="-38100"/>
                <a:ext cx="14097000" cy="994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9" name="Google Shape;429;p22"/>
            <p:cNvSpPr txBox="1"/>
            <p:nvPr/>
          </p:nvSpPr>
          <p:spPr>
            <a:xfrm>
              <a:off x="635000" y="269875"/>
              <a:ext cx="8890000" cy="471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7D3E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MESURES CONSERVATOIRES</a:t>
              </a:r>
              <a:endParaRPr/>
            </a:p>
          </p:txBody>
        </p:sp>
        <p:sp>
          <p:nvSpPr>
            <p:cNvPr id="430" name="Google Shape;430;p22"/>
            <p:cNvSpPr txBox="1"/>
            <p:nvPr/>
          </p:nvSpPr>
          <p:spPr>
            <a:xfrm>
              <a:off x="1016000" y="1358900"/>
              <a:ext cx="33020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01  Isoler</a:t>
              </a:r>
              <a:endParaRPr/>
            </a:p>
          </p:txBody>
        </p:sp>
        <p:sp>
          <p:nvSpPr>
            <p:cNvPr id="431" name="Google Shape;431;p22"/>
            <p:cNvSpPr txBox="1"/>
            <p:nvPr/>
          </p:nvSpPr>
          <p:spPr>
            <a:xfrm>
              <a:off x="1016000" y="1949450"/>
              <a:ext cx="10414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comptabilite-07 · dc-01 · srv-fichiers-02</a:t>
              </a:r>
              <a:endParaRPr/>
            </a:p>
          </p:txBody>
        </p:sp>
        <p:sp>
          <p:nvSpPr>
            <p:cNvPr id="432" name="Google Shape;432;p22"/>
            <p:cNvSpPr txBox="1"/>
            <p:nvPr/>
          </p:nvSpPr>
          <p:spPr>
            <a:xfrm>
              <a:off x="1016000" y="3263900"/>
              <a:ext cx="33020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02  Bloquer</a:t>
              </a:r>
              <a:endParaRPr/>
            </a:p>
          </p:txBody>
        </p:sp>
        <p:sp>
          <p:nvSpPr>
            <p:cNvPr id="433" name="Google Shape;433;p22"/>
            <p:cNvSpPr txBox="1"/>
            <p:nvPr/>
          </p:nvSpPr>
          <p:spPr>
            <a:xfrm>
              <a:off x="1016000" y="3854450"/>
              <a:ext cx="10414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IPs et domaines sur le pare-feu périmétrique</a:t>
              </a:r>
              <a:endParaRPr/>
            </a:p>
          </p:txBody>
        </p:sp>
        <p:sp>
          <p:nvSpPr>
            <p:cNvPr id="434" name="Google Shape;434;p22"/>
            <p:cNvSpPr txBox="1"/>
            <p:nvPr/>
          </p:nvSpPr>
          <p:spPr>
            <a:xfrm>
              <a:off x="1016000" y="5168900"/>
              <a:ext cx="44450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03  Réinitialiser</a:t>
              </a:r>
              <a:endParaRPr/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1016000" y="5759450"/>
              <a:ext cx="10414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secrets AD · supprimer svc-backup-temp</a:t>
              </a:r>
              <a:endParaRPr/>
            </a:p>
          </p:txBody>
        </p:sp>
        <p:sp>
          <p:nvSpPr>
            <p:cNvPr id="436" name="Google Shape;436;p22"/>
            <p:cNvSpPr txBox="1"/>
            <p:nvPr/>
          </p:nvSpPr>
          <p:spPr>
            <a:xfrm>
              <a:off x="1016000" y="7073900"/>
              <a:ext cx="44450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5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04  Surveiller</a:t>
              </a:r>
              <a:endParaRPr/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1016000" y="7664450"/>
              <a:ext cx="10414000" cy="375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SOC en vigilance renforcée H24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Partage communautaire — périmètre restreint</a:t>
            </a:r>
            <a:endParaRPr/>
          </a:p>
        </p:txBody>
      </p:sp>
      <p:grpSp>
        <p:nvGrpSpPr>
          <p:cNvPr id="443" name="Google Shape;443;p23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444" name="Google Shape;444;p23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445" name="Google Shape;445;p23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23"/>
          <p:cNvGrpSpPr/>
          <p:nvPr/>
        </p:nvGrpSpPr>
        <p:grpSpPr>
          <a:xfrm>
            <a:off x="781050" y="1590675"/>
            <a:ext cx="7524750" cy="6886575"/>
            <a:chOff x="0" y="-38100"/>
            <a:chExt cx="10033000" cy="9182100"/>
          </a:xfrm>
        </p:grpSpPr>
        <p:grpSp>
          <p:nvGrpSpPr>
            <p:cNvPr id="447" name="Google Shape;447;p23"/>
            <p:cNvGrpSpPr/>
            <p:nvPr/>
          </p:nvGrpSpPr>
          <p:grpSpPr>
            <a:xfrm>
              <a:off x="0" y="-38100"/>
              <a:ext cx="10033000" cy="9182100"/>
              <a:chOff x="0" y="-38100"/>
              <a:chExt cx="10033000" cy="9182100"/>
            </a:xfrm>
          </p:grpSpPr>
          <p:sp>
            <p:nvSpPr>
              <p:cNvPr id="448" name="Google Shape;448;p23"/>
              <p:cNvSpPr/>
              <p:nvPr/>
            </p:nvSpPr>
            <p:spPr>
              <a:xfrm>
                <a:off x="0" y="0"/>
                <a:ext cx="10033000" cy="9144000"/>
              </a:xfrm>
              <a:custGeom>
                <a:rect b="b" l="l" r="r" t="t"/>
                <a:pathLst>
                  <a:path extrusionOk="0" h="9144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9144000"/>
                    </a:lnTo>
                    <a:lnTo>
                      <a:pt x="0" y="914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EF535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49" name="Google Shape;449;p23"/>
              <p:cNvSpPr txBox="1"/>
              <p:nvPr/>
            </p:nvSpPr>
            <p:spPr>
              <a:xfrm>
                <a:off x="0" y="-38100"/>
                <a:ext cx="10033000" cy="918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0" name="Google Shape;450;p23"/>
            <p:cNvSpPr txBox="1"/>
            <p:nvPr/>
          </p:nvSpPr>
          <p:spPr>
            <a:xfrm>
              <a:off x="546100" y="476250"/>
              <a:ext cx="8255000" cy="109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950" u="none" cap="none" strike="noStrike">
                  <a:solidFill>
                    <a:srgbClr val="EF535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TLP:RED</a:t>
              </a:r>
              <a:endParaRPr/>
            </a:p>
          </p:txBody>
        </p:sp>
        <p:sp>
          <p:nvSpPr>
            <p:cNvPr id="451" name="Google Shape;451;p23"/>
            <p:cNvSpPr txBox="1"/>
            <p:nvPr/>
          </p:nvSpPr>
          <p:spPr>
            <a:xfrm>
              <a:off x="546100" y="1885950"/>
              <a:ext cx="8255000" cy="34460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Strictement confidentiel / interne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Noms des collaborateurs visés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Topologie réseau exacte Helios Energy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Identifiants compromis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DESTINATAIRES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Cellule de crise · équipe CTI restreinte</a:t>
              </a:r>
              <a:endParaRPr/>
            </a:p>
          </p:txBody>
        </p:sp>
      </p:grpSp>
      <p:grpSp>
        <p:nvGrpSpPr>
          <p:cNvPr id="452" name="Google Shape;452;p23"/>
          <p:cNvGrpSpPr/>
          <p:nvPr/>
        </p:nvGrpSpPr>
        <p:grpSpPr>
          <a:xfrm>
            <a:off x="8972550" y="1590675"/>
            <a:ext cx="8524875" cy="6886575"/>
            <a:chOff x="0" y="-38100"/>
            <a:chExt cx="11366500" cy="9182100"/>
          </a:xfrm>
        </p:grpSpPr>
        <p:grpSp>
          <p:nvGrpSpPr>
            <p:cNvPr id="453" name="Google Shape;453;p23"/>
            <p:cNvGrpSpPr/>
            <p:nvPr/>
          </p:nvGrpSpPr>
          <p:grpSpPr>
            <a:xfrm>
              <a:off x="0" y="-38100"/>
              <a:ext cx="11366500" cy="9182100"/>
              <a:chOff x="0" y="-38100"/>
              <a:chExt cx="11366500" cy="9182100"/>
            </a:xfrm>
          </p:grpSpPr>
          <p:sp>
            <p:nvSpPr>
              <p:cNvPr id="454" name="Google Shape;454;p23"/>
              <p:cNvSpPr/>
              <p:nvPr/>
            </p:nvSpPr>
            <p:spPr>
              <a:xfrm>
                <a:off x="0" y="0"/>
                <a:ext cx="11366500" cy="9144000"/>
              </a:xfrm>
              <a:custGeom>
                <a:rect b="b" l="l" r="r" t="t"/>
                <a:pathLst>
                  <a:path extrusionOk="0" h="9144000" w="11366500">
                    <a:moveTo>
                      <a:pt x="0" y="0"/>
                    </a:moveTo>
                    <a:lnTo>
                      <a:pt x="11366500" y="0"/>
                    </a:lnTo>
                    <a:lnTo>
                      <a:pt x="11366500" y="9144000"/>
                    </a:lnTo>
                    <a:lnTo>
                      <a:pt x="0" y="914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FF8A3D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55" name="Google Shape;455;p23"/>
              <p:cNvSpPr txBox="1"/>
              <p:nvPr/>
            </p:nvSpPr>
            <p:spPr>
              <a:xfrm>
                <a:off x="0" y="-38100"/>
                <a:ext cx="11366500" cy="918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6" name="Google Shape;456;p23"/>
            <p:cNvSpPr txBox="1"/>
            <p:nvPr/>
          </p:nvSpPr>
          <p:spPr>
            <a:xfrm>
              <a:off x="546100" y="495300"/>
              <a:ext cx="9525000" cy="957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350" u="none" cap="none" strike="noStrike">
                  <a:solidFill>
                    <a:srgbClr val="FF8A3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TLP:AMBER+STRICT</a:t>
              </a:r>
              <a:endParaRPr/>
            </a:p>
          </p:txBody>
        </p:sp>
        <p:sp>
          <p:nvSpPr>
            <p:cNvPr id="457" name="Google Shape;457;p23"/>
            <p:cNvSpPr txBox="1"/>
            <p:nvPr/>
          </p:nvSpPr>
          <p:spPr>
            <a:xfrm>
              <a:off x="546100" y="1885950"/>
              <a:ext cx="9144000" cy="1718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Limité à l’organisation &amp; filiales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Logs bruts des serveurs internes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• Règles de détection spécifiques à l’infrastructure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4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Partage communautaire — diffusion maîtrisée</a:t>
            </a:r>
            <a:endParaRPr/>
          </a:p>
        </p:txBody>
      </p:sp>
      <p:grpSp>
        <p:nvGrpSpPr>
          <p:cNvPr id="463" name="Google Shape;463;p24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464" name="Google Shape;464;p24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465" name="Google Shape;465;p24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24"/>
          <p:cNvGrpSpPr/>
          <p:nvPr/>
        </p:nvGrpSpPr>
        <p:grpSpPr>
          <a:xfrm>
            <a:off x="781050" y="1447800"/>
            <a:ext cx="7620000" cy="5934075"/>
            <a:chOff x="0" y="-38100"/>
            <a:chExt cx="10160000" cy="7912100"/>
          </a:xfrm>
        </p:grpSpPr>
        <p:grpSp>
          <p:nvGrpSpPr>
            <p:cNvPr id="467" name="Google Shape;467;p24"/>
            <p:cNvGrpSpPr/>
            <p:nvPr/>
          </p:nvGrpSpPr>
          <p:grpSpPr>
            <a:xfrm>
              <a:off x="0" y="-38100"/>
              <a:ext cx="10160000" cy="7912100"/>
              <a:chOff x="0" y="-38100"/>
              <a:chExt cx="10160000" cy="7912100"/>
            </a:xfrm>
          </p:grpSpPr>
          <p:sp>
            <p:nvSpPr>
              <p:cNvPr id="468" name="Google Shape;468;p24"/>
              <p:cNvSpPr/>
              <p:nvPr/>
            </p:nvSpPr>
            <p:spPr>
              <a:xfrm>
                <a:off x="0" y="0"/>
                <a:ext cx="10160000" cy="7874000"/>
              </a:xfrm>
              <a:custGeom>
                <a:rect b="b" l="l" r="r" t="t"/>
                <a:pathLst>
                  <a:path extrusionOk="0" h="7874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35C78A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69" name="Google Shape;469;p24"/>
              <p:cNvSpPr txBox="1"/>
              <p:nvPr/>
            </p:nvSpPr>
            <p:spPr>
              <a:xfrm>
                <a:off x="0" y="-38100"/>
                <a:ext cx="10160000" cy="791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0" name="Google Shape;470;p24"/>
            <p:cNvSpPr txBox="1"/>
            <p:nvPr/>
          </p:nvSpPr>
          <p:spPr>
            <a:xfrm>
              <a:off x="419100" y="358775"/>
              <a:ext cx="7620000" cy="1020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650" u="none" cap="none" strike="noStrike">
                  <a:solidFill>
                    <a:srgbClr val="35C78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TLP:GREEN</a:t>
              </a:r>
              <a:endParaRPr/>
            </a:p>
          </p:txBody>
        </p:sp>
        <p:sp>
          <p:nvSpPr>
            <p:cNvPr id="471" name="Google Shape;471;p24"/>
            <p:cNvSpPr txBox="1"/>
            <p:nvPr/>
          </p:nvSpPr>
          <p:spPr>
            <a:xfrm>
              <a:off x="419100" y="1758950"/>
              <a:ext cx="8255000" cy="34460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CERTs &amp; ISACs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Hashes des 3 binaires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IPs d’attaque · domaines C2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Signatures Sigma génériques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CANAL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MISP communauté OIV / CERT-FR</a:t>
              </a:r>
              <a:endParaRPr/>
            </a:p>
          </p:txBody>
        </p:sp>
      </p:grpSp>
      <p:grpSp>
        <p:nvGrpSpPr>
          <p:cNvPr id="472" name="Google Shape;472;p24"/>
          <p:cNvGrpSpPr/>
          <p:nvPr/>
        </p:nvGrpSpPr>
        <p:grpSpPr>
          <a:xfrm>
            <a:off x="9353550" y="1447800"/>
            <a:ext cx="8143875" cy="5934075"/>
            <a:chOff x="0" y="-38100"/>
            <a:chExt cx="10858500" cy="7912100"/>
          </a:xfrm>
        </p:grpSpPr>
        <p:grpSp>
          <p:nvGrpSpPr>
            <p:cNvPr id="473" name="Google Shape;473;p24"/>
            <p:cNvGrpSpPr/>
            <p:nvPr/>
          </p:nvGrpSpPr>
          <p:grpSpPr>
            <a:xfrm>
              <a:off x="0" y="-38100"/>
              <a:ext cx="10858500" cy="7912100"/>
              <a:chOff x="0" y="-38100"/>
              <a:chExt cx="10858500" cy="7912100"/>
            </a:xfrm>
          </p:grpSpPr>
          <p:sp>
            <p:nvSpPr>
              <p:cNvPr id="474" name="Google Shape;474;p24"/>
              <p:cNvSpPr/>
              <p:nvPr/>
            </p:nvSpPr>
            <p:spPr>
              <a:xfrm>
                <a:off x="0" y="0"/>
                <a:ext cx="10858500" cy="7874000"/>
              </a:xfrm>
              <a:custGeom>
                <a:rect b="b" l="l" r="r" t="t"/>
                <a:pathLst>
                  <a:path extrusionOk="0" h="7874000" w="10858500">
                    <a:moveTo>
                      <a:pt x="0" y="0"/>
                    </a:moveTo>
                    <a:lnTo>
                      <a:pt x="10858500" y="0"/>
                    </a:lnTo>
                    <a:lnTo>
                      <a:pt x="10858500" y="7874000"/>
                    </a:lnTo>
                    <a:lnTo>
                      <a:pt x="0" y="7874000"/>
                    </a:lnTo>
                    <a:close/>
                  </a:path>
                </a:pathLst>
              </a:custGeom>
              <a:solidFill>
                <a:srgbClr val="0D2636"/>
              </a:solidFill>
              <a:ln cap="sq" cmpd="sng" w="19050">
                <a:solidFill>
                  <a:srgbClr val="27D3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475" name="Google Shape;475;p24"/>
              <p:cNvSpPr txBox="1"/>
              <p:nvPr/>
            </p:nvSpPr>
            <p:spPr>
              <a:xfrm>
                <a:off x="0" y="-38100"/>
                <a:ext cx="10858500" cy="791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6" name="Google Shape;476;p24"/>
            <p:cNvSpPr txBox="1"/>
            <p:nvPr/>
          </p:nvSpPr>
          <p:spPr>
            <a:xfrm>
              <a:off x="419100" y="358775"/>
              <a:ext cx="7620000" cy="10204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650" u="none" cap="none" strike="noStrike">
                  <a:solidFill>
                    <a:srgbClr val="27D3E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TLP:CLEAR</a:t>
              </a:r>
              <a:endParaRPr/>
            </a:p>
          </p:txBody>
        </p:sp>
        <p:sp>
          <p:nvSpPr>
            <p:cNvPr id="477" name="Google Shape;477;p24"/>
            <p:cNvSpPr txBox="1"/>
            <p:nvPr/>
          </p:nvSpPr>
          <p:spPr>
            <a:xfrm>
              <a:off x="419100" y="1758950"/>
              <a:ext cx="8636000" cy="25824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Public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Recommandations de durcissement Active Directory contre le dump mémoire LSASS :</a:t>
              </a:r>
              <a:endParaRPr/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25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LSA Protection · Credential Guard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6F8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02634"/>
                </a:solidFill>
                <a:latin typeface="Montserrat"/>
                <a:ea typeface="Montserrat"/>
                <a:cs typeface="Montserrat"/>
                <a:sym typeface="Montserrat"/>
              </a:rPr>
              <a:t>STIX 2.1 — bundle_helios.json</a:t>
            </a:r>
            <a:endParaRPr/>
          </a:p>
        </p:txBody>
      </p:sp>
      <p:grpSp>
        <p:nvGrpSpPr>
          <p:cNvPr id="483" name="Google Shape;483;p25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484" name="Google Shape;484;p25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485" name="Google Shape;485;p25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25"/>
          <p:cNvSpPr txBox="1"/>
          <p:nvPr/>
        </p:nvSpPr>
        <p:spPr>
          <a:xfrm>
            <a:off x="952500" y="1209675"/>
            <a:ext cx="2857500" cy="1933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27D3E2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1095375" y="2809875"/>
            <a:ext cx="4762500" cy="405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634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objets interconnectés</a:t>
            </a:r>
            <a:endParaRPr/>
          </a:p>
        </p:txBody>
      </p:sp>
      <p:cxnSp>
        <p:nvCxnSpPr>
          <p:cNvPr id="488" name="Google Shape;488;p25"/>
          <p:cNvCxnSpPr/>
          <p:nvPr/>
        </p:nvCxnSpPr>
        <p:spPr>
          <a:xfrm flipH="1">
            <a:off x="5619750" y="2857500"/>
            <a:ext cx="2714625" cy="1619250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5"/>
          <p:cNvCxnSpPr/>
          <p:nvPr/>
        </p:nvCxnSpPr>
        <p:spPr>
          <a:xfrm>
            <a:off x="8334375" y="2857500"/>
            <a:ext cx="809625" cy="1619250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25"/>
          <p:cNvCxnSpPr/>
          <p:nvPr/>
        </p:nvCxnSpPr>
        <p:spPr>
          <a:xfrm flipH="1">
            <a:off x="12668250" y="2857500"/>
            <a:ext cx="1571625" cy="1619250"/>
          </a:xfrm>
          <a:prstGeom prst="straightConnector1">
            <a:avLst/>
          </a:prstGeom>
          <a:noFill/>
          <a:ln cap="flat" cmpd="sng" w="28575">
            <a:solidFill>
              <a:srgbClr val="27D3E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25"/>
          <p:cNvCxnSpPr/>
          <p:nvPr/>
        </p:nvCxnSpPr>
        <p:spPr>
          <a:xfrm>
            <a:off x="9144000" y="5667375"/>
            <a:ext cx="0" cy="1476375"/>
          </a:xfrm>
          <a:prstGeom prst="straightConnector1">
            <a:avLst/>
          </a:prstGeom>
          <a:noFill/>
          <a:ln cap="flat" cmpd="sng" w="28575">
            <a:solidFill>
              <a:srgbClr val="FF8A3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92" name="Google Shape;492;p25"/>
          <p:cNvGrpSpPr/>
          <p:nvPr/>
        </p:nvGrpSpPr>
        <p:grpSpPr>
          <a:xfrm>
            <a:off x="6858000" y="1714500"/>
            <a:ext cx="2952750" cy="1143000"/>
            <a:chOff x="0" y="0"/>
            <a:chExt cx="3937000" cy="1524000"/>
          </a:xfrm>
        </p:grpSpPr>
        <p:sp>
          <p:nvSpPr>
            <p:cNvPr id="493" name="Google Shape;493;p25"/>
            <p:cNvSpPr/>
            <p:nvPr/>
          </p:nvSpPr>
          <p:spPr>
            <a:xfrm>
              <a:off x="0" y="0"/>
              <a:ext cx="3937000" cy="1524000"/>
            </a:xfrm>
            <a:custGeom>
              <a:rect b="b" l="l" r="r" t="t"/>
              <a:pathLst>
                <a:path extrusionOk="0" h="1524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466645"/>
                  </a:lnTo>
                  <a:cubicBezTo>
                    <a:pt x="3937000" y="1481857"/>
                    <a:pt x="3930957" y="1496445"/>
                    <a:pt x="3920201" y="1507201"/>
                  </a:cubicBezTo>
                  <a:cubicBezTo>
                    <a:pt x="3909445" y="1517957"/>
                    <a:pt x="3894856" y="1524000"/>
                    <a:pt x="3879645" y="1524000"/>
                  </a:cubicBezTo>
                  <a:lnTo>
                    <a:pt x="57355" y="1524000"/>
                  </a:lnTo>
                  <a:cubicBezTo>
                    <a:pt x="42143" y="1524000"/>
                    <a:pt x="27555" y="1517957"/>
                    <a:pt x="16799" y="1507201"/>
                  </a:cubicBezTo>
                  <a:cubicBezTo>
                    <a:pt x="6043" y="1496445"/>
                    <a:pt x="0" y="1481857"/>
                    <a:pt x="0" y="1466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6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5"/>
            <p:cNvSpPr txBox="1"/>
            <p:nvPr/>
          </p:nvSpPr>
          <p:spPr>
            <a:xfrm>
              <a:off x="0" y="9525"/>
              <a:ext cx="3937000" cy="1514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 THREAT ACTOR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Cluster-2026-Helios</a:t>
              </a:r>
              <a:endParaRPr/>
            </a:p>
          </p:txBody>
        </p:sp>
      </p:grpSp>
      <p:grpSp>
        <p:nvGrpSpPr>
          <p:cNvPr id="495" name="Google Shape;495;p25"/>
          <p:cNvGrpSpPr/>
          <p:nvPr/>
        </p:nvGrpSpPr>
        <p:grpSpPr>
          <a:xfrm>
            <a:off x="12763500" y="1714500"/>
            <a:ext cx="2952750" cy="1143000"/>
            <a:chOff x="0" y="0"/>
            <a:chExt cx="3937000" cy="1524000"/>
          </a:xfrm>
        </p:grpSpPr>
        <p:sp>
          <p:nvSpPr>
            <p:cNvPr id="496" name="Google Shape;496;p25"/>
            <p:cNvSpPr/>
            <p:nvPr/>
          </p:nvSpPr>
          <p:spPr>
            <a:xfrm>
              <a:off x="0" y="0"/>
              <a:ext cx="3937000" cy="1524000"/>
            </a:xfrm>
            <a:custGeom>
              <a:rect b="b" l="l" r="r" t="t"/>
              <a:pathLst>
                <a:path extrusionOk="0" h="1524000" w="3937000">
                  <a:moveTo>
                    <a:pt x="57355" y="0"/>
                  </a:moveTo>
                  <a:lnTo>
                    <a:pt x="3879645" y="0"/>
                  </a:lnTo>
                  <a:cubicBezTo>
                    <a:pt x="3894856" y="0"/>
                    <a:pt x="3909445" y="6043"/>
                    <a:pt x="3920201" y="16799"/>
                  </a:cubicBezTo>
                  <a:cubicBezTo>
                    <a:pt x="3930957" y="27555"/>
                    <a:pt x="3937000" y="42143"/>
                    <a:pt x="3937000" y="57355"/>
                  </a:cubicBezTo>
                  <a:lnTo>
                    <a:pt x="3937000" y="1466645"/>
                  </a:lnTo>
                  <a:cubicBezTo>
                    <a:pt x="3937000" y="1481857"/>
                    <a:pt x="3930957" y="1496445"/>
                    <a:pt x="3920201" y="1507201"/>
                  </a:cubicBezTo>
                  <a:cubicBezTo>
                    <a:pt x="3909445" y="1517957"/>
                    <a:pt x="3894856" y="1524000"/>
                    <a:pt x="3879645" y="1524000"/>
                  </a:cubicBezTo>
                  <a:lnTo>
                    <a:pt x="57355" y="1524000"/>
                  </a:lnTo>
                  <a:cubicBezTo>
                    <a:pt x="42143" y="1524000"/>
                    <a:pt x="27555" y="1517957"/>
                    <a:pt x="16799" y="1507201"/>
                  </a:cubicBezTo>
                  <a:cubicBezTo>
                    <a:pt x="6043" y="1496445"/>
                    <a:pt x="0" y="1481857"/>
                    <a:pt x="0" y="1466645"/>
                  </a:cubicBezTo>
                  <a:lnTo>
                    <a:pt x="0" y="57355"/>
                  </a:lnTo>
                  <a:cubicBezTo>
                    <a:pt x="0" y="42143"/>
                    <a:pt x="6043" y="27555"/>
                    <a:pt x="16799" y="16799"/>
                  </a:cubicBezTo>
                  <a:cubicBezTo>
                    <a:pt x="27555" y="6043"/>
                    <a:pt x="42143" y="0"/>
                    <a:pt x="57355" y="0"/>
                  </a:cubicBezTo>
                  <a:close/>
                </a:path>
              </a:pathLst>
            </a:custGeom>
            <a:solidFill>
              <a:srgbClr val="1026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5"/>
            <p:cNvSpPr txBox="1"/>
            <p:nvPr/>
          </p:nvSpPr>
          <p:spPr>
            <a:xfrm>
              <a:off x="0" y="9525"/>
              <a:ext cx="3937000" cy="1514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 IDENTITY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Helios Energy</a:t>
              </a:r>
              <a:endParaRPr/>
            </a:p>
          </p:txBody>
        </p:sp>
      </p:grpSp>
      <p:grpSp>
        <p:nvGrpSpPr>
          <p:cNvPr id="498" name="Google Shape;498;p25"/>
          <p:cNvGrpSpPr/>
          <p:nvPr/>
        </p:nvGrpSpPr>
        <p:grpSpPr>
          <a:xfrm>
            <a:off x="4191000" y="4476750"/>
            <a:ext cx="2857500" cy="1190625"/>
            <a:chOff x="0" y="0"/>
            <a:chExt cx="3810000" cy="1587500"/>
          </a:xfrm>
        </p:grpSpPr>
        <p:sp>
          <p:nvSpPr>
            <p:cNvPr id="499" name="Google Shape;499;p25"/>
            <p:cNvSpPr/>
            <p:nvPr/>
          </p:nvSpPr>
          <p:spPr>
            <a:xfrm>
              <a:off x="0" y="0"/>
              <a:ext cx="3810000" cy="1587500"/>
            </a:xfrm>
            <a:custGeom>
              <a:rect b="b" l="l" r="r" t="t"/>
              <a:pathLst>
                <a:path extrusionOk="0" h="1587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28233"/>
                  </a:lnTo>
                  <a:cubicBezTo>
                    <a:pt x="3810000" y="1560965"/>
                    <a:pt x="3783466" y="1587500"/>
                    <a:pt x="3750733" y="1587500"/>
                  </a:cubicBezTo>
                  <a:lnTo>
                    <a:pt x="59267" y="1587500"/>
                  </a:lnTo>
                  <a:cubicBezTo>
                    <a:pt x="26535" y="1587500"/>
                    <a:pt x="0" y="1560965"/>
                    <a:pt x="0" y="1528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FF8A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5"/>
            <p:cNvSpPr txBox="1"/>
            <p:nvPr/>
          </p:nvSpPr>
          <p:spPr>
            <a:xfrm>
              <a:off x="0" y="9525"/>
              <a:ext cx="3810000" cy="157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 MALWARE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BIN-01 · 02 · 03</a:t>
              </a:r>
              <a:endParaRPr/>
            </a:p>
          </p:txBody>
        </p:sp>
      </p:grpSp>
      <p:grpSp>
        <p:nvGrpSpPr>
          <p:cNvPr id="501" name="Google Shape;501;p25"/>
          <p:cNvGrpSpPr/>
          <p:nvPr/>
        </p:nvGrpSpPr>
        <p:grpSpPr>
          <a:xfrm>
            <a:off x="7715250" y="4476750"/>
            <a:ext cx="2857500" cy="1190625"/>
            <a:chOff x="0" y="0"/>
            <a:chExt cx="3810000" cy="1587500"/>
          </a:xfrm>
        </p:grpSpPr>
        <p:sp>
          <p:nvSpPr>
            <p:cNvPr id="502" name="Google Shape;502;p25"/>
            <p:cNvSpPr/>
            <p:nvPr/>
          </p:nvSpPr>
          <p:spPr>
            <a:xfrm>
              <a:off x="0" y="0"/>
              <a:ext cx="3810000" cy="1587500"/>
            </a:xfrm>
            <a:custGeom>
              <a:rect b="b" l="l" r="r" t="t"/>
              <a:pathLst>
                <a:path extrusionOk="0" h="1587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28233"/>
                  </a:lnTo>
                  <a:cubicBezTo>
                    <a:pt x="3810000" y="1560965"/>
                    <a:pt x="3783466" y="1587500"/>
                    <a:pt x="3750733" y="1587500"/>
                  </a:cubicBezTo>
                  <a:lnTo>
                    <a:pt x="59267" y="1587500"/>
                  </a:lnTo>
                  <a:cubicBezTo>
                    <a:pt x="26535" y="1587500"/>
                    <a:pt x="0" y="1560965"/>
                    <a:pt x="0" y="1528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5"/>
            <p:cNvSpPr txBox="1"/>
            <p:nvPr/>
          </p:nvSpPr>
          <p:spPr>
            <a:xfrm>
              <a:off x="0" y="9525"/>
              <a:ext cx="3810000" cy="157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10 INDICATORS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Hashes · C2 · IPs</a:t>
              </a:r>
              <a:endParaRPr/>
            </a:p>
          </p:txBody>
        </p:sp>
      </p:grpSp>
      <p:grpSp>
        <p:nvGrpSpPr>
          <p:cNvPr id="504" name="Google Shape;504;p25"/>
          <p:cNvGrpSpPr/>
          <p:nvPr/>
        </p:nvGrpSpPr>
        <p:grpSpPr>
          <a:xfrm>
            <a:off x="11239500" y="4476750"/>
            <a:ext cx="2857500" cy="1190625"/>
            <a:chOff x="0" y="0"/>
            <a:chExt cx="3810000" cy="1587500"/>
          </a:xfrm>
        </p:grpSpPr>
        <p:sp>
          <p:nvSpPr>
            <p:cNvPr id="505" name="Google Shape;505;p25"/>
            <p:cNvSpPr/>
            <p:nvPr/>
          </p:nvSpPr>
          <p:spPr>
            <a:xfrm>
              <a:off x="0" y="0"/>
              <a:ext cx="3810000" cy="1587500"/>
            </a:xfrm>
            <a:custGeom>
              <a:rect b="b" l="l" r="r" t="t"/>
              <a:pathLst>
                <a:path extrusionOk="0" h="15875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28233"/>
                  </a:lnTo>
                  <a:cubicBezTo>
                    <a:pt x="3810000" y="1560965"/>
                    <a:pt x="3783466" y="1587500"/>
                    <a:pt x="3750733" y="1587500"/>
                  </a:cubicBezTo>
                  <a:lnTo>
                    <a:pt x="59267" y="1587500"/>
                  </a:lnTo>
                  <a:cubicBezTo>
                    <a:pt x="26535" y="1587500"/>
                    <a:pt x="0" y="1560965"/>
                    <a:pt x="0" y="15282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6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5"/>
            <p:cNvSpPr txBox="1"/>
            <p:nvPr/>
          </p:nvSpPr>
          <p:spPr>
            <a:xfrm>
              <a:off x="0" y="9525"/>
              <a:ext cx="3810000" cy="157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 ATTACK PATTERNS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MITRE ATT&amp;CK</a:t>
              </a:r>
              <a:endParaRPr/>
            </a:p>
          </p:txBody>
        </p:sp>
      </p:grpSp>
      <p:grpSp>
        <p:nvGrpSpPr>
          <p:cNvPr id="507" name="Google Shape;507;p25"/>
          <p:cNvGrpSpPr/>
          <p:nvPr/>
        </p:nvGrpSpPr>
        <p:grpSpPr>
          <a:xfrm>
            <a:off x="6334125" y="7143750"/>
            <a:ext cx="5619750" cy="1000125"/>
            <a:chOff x="0" y="0"/>
            <a:chExt cx="7493000" cy="1333500"/>
          </a:xfrm>
        </p:grpSpPr>
        <p:sp>
          <p:nvSpPr>
            <p:cNvPr id="508" name="Google Shape;508;p25"/>
            <p:cNvSpPr/>
            <p:nvPr/>
          </p:nvSpPr>
          <p:spPr>
            <a:xfrm>
              <a:off x="0" y="0"/>
              <a:ext cx="7493000" cy="1333500"/>
            </a:xfrm>
            <a:custGeom>
              <a:rect b="b" l="l" r="r" t="t"/>
              <a:pathLst>
                <a:path extrusionOk="0" h="1333500" w="7493000">
                  <a:moveTo>
                    <a:pt x="30136" y="0"/>
                  </a:moveTo>
                  <a:lnTo>
                    <a:pt x="7462865" y="0"/>
                  </a:lnTo>
                  <a:cubicBezTo>
                    <a:pt x="7479508" y="0"/>
                    <a:pt x="7493000" y="13492"/>
                    <a:pt x="7493000" y="30136"/>
                  </a:cubicBezTo>
                  <a:lnTo>
                    <a:pt x="7493000" y="1303364"/>
                  </a:lnTo>
                  <a:cubicBezTo>
                    <a:pt x="7493000" y="1320008"/>
                    <a:pt x="7479508" y="1333500"/>
                    <a:pt x="7462865" y="1333500"/>
                  </a:cubicBezTo>
                  <a:lnTo>
                    <a:pt x="30136" y="1333500"/>
                  </a:lnTo>
                  <a:cubicBezTo>
                    <a:pt x="13492" y="1333500"/>
                    <a:pt x="0" y="1320008"/>
                    <a:pt x="0" y="1303364"/>
                  </a:cubicBezTo>
                  <a:lnTo>
                    <a:pt x="0" y="30136"/>
                  </a:lnTo>
                  <a:cubicBezTo>
                    <a:pt x="0" y="13492"/>
                    <a:pt x="13492" y="0"/>
                    <a:pt x="30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5"/>
            <p:cNvSpPr txBox="1"/>
            <p:nvPr/>
          </p:nvSpPr>
          <p:spPr>
            <a:xfrm>
              <a:off x="0" y="9525"/>
              <a:ext cx="7493000" cy="1323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8 RELATIONSHIPS</a:t>
              </a:r>
              <a:endParaRPr/>
            </a:p>
            <a:p>
              <a:pPr indent="0" lvl="0" marL="0" marR="0" rtl="0" algn="ctr">
                <a:lnSpc>
                  <a:spcPct val="1149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5" u="none" cap="none" strike="noStrike">
                  <a:solidFill>
                    <a:srgbClr val="10263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indicates · uses · targets</a:t>
              </a:r>
              <a:endParaRPr/>
            </a:p>
          </p:txBody>
        </p:sp>
      </p:grpSp>
      <p:sp>
        <p:nvSpPr>
          <p:cNvPr id="510" name="Google Shape;510;p25"/>
          <p:cNvSpPr txBox="1"/>
          <p:nvPr/>
        </p:nvSpPr>
        <p:spPr>
          <a:xfrm>
            <a:off x="8001000" y="8772525"/>
            <a:ext cx="9048750" cy="28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DA5B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CAPTURE 05  ·  Export du Bundle STIX 2.1 depuis la modal MISP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52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6"/>
          <p:cNvSpPr txBox="1"/>
          <p:nvPr/>
        </p:nvSpPr>
        <p:spPr>
          <a:xfrm>
            <a:off x="781050" y="619125"/>
            <a:ext cx="15240000" cy="543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STIX 2.1 — extrait JSON conforme</a:t>
            </a:r>
            <a:endParaRPr/>
          </a:p>
        </p:txBody>
      </p:sp>
      <p:grpSp>
        <p:nvGrpSpPr>
          <p:cNvPr id="516" name="Google Shape;516;p26"/>
          <p:cNvGrpSpPr/>
          <p:nvPr/>
        </p:nvGrpSpPr>
        <p:grpSpPr>
          <a:xfrm>
            <a:off x="400050" y="523875"/>
            <a:ext cx="114300" cy="676275"/>
            <a:chOff x="0" y="-38100"/>
            <a:chExt cx="152400" cy="901700"/>
          </a:xfrm>
        </p:grpSpPr>
        <p:sp>
          <p:nvSpPr>
            <p:cNvPr id="517" name="Google Shape;517;p26"/>
            <p:cNvSpPr/>
            <p:nvPr/>
          </p:nvSpPr>
          <p:spPr>
            <a:xfrm>
              <a:off x="0" y="0"/>
              <a:ext cx="152400" cy="863600"/>
            </a:xfrm>
            <a:custGeom>
              <a:rect b="b" l="l" r="r" t="t"/>
              <a:pathLst>
                <a:path extrusionOk="0" h="863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863600"/>
                  </a:lnTo>
                  <a:lnTo>
                    <a:pt x="0" y="863600"/>
                  </a:lnTo>
                  <a:close/>
                </a:path>
              </a:pathLst>
            </a:custGeom>
            <a:solidFill>
              <a:srgbClr val="27D3E2"/>
            </a:solidFill>
            <a:ln>
              <a:noFill/>
            </a:ln>
          </p:spPr>
        </p:sp>
        <p:sp>
          <p:nvSpPr>
            <p:cNvPr id="518" name="Google Shape;518;p26"/>
            <p:cNvSpPr txBox="1"/>
            <p:nvPr/>
          </p:nvSpPr>
          <p:spPr>
            <a:xfrm>
              <a:off x="0" y="-38100"/>
              <a:ext cx="152400" cy="90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3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9" name="Google Shape;519;p26"/>
          <p:cNvGrpSpPr/>
          <p:nvPr/>
        </p:nvGrpSpPr>
        <p:grpSpPr>
          <a:xfrm>
            <a:off x="781050" y="1352550"/>
            <a:ext cx="16716375" cy="7981950"/>
            <a:chOff x="0" y="-38100"/>
            <a:chExt cx="22288500" cy="10642600"/>
          </a:xfrm>
        </p:grpSpPr>
        <p:grpSp>
          <p:nvGrpSpPr>
            <p:cNvPr id="520" name="Google Shape;520;p26"/>
            <p:cNvGrpSpPr/>
            <p:nvPr/>
          </p:nvGrpSpPr>
          <p:grpSpPr>
            <a:xfrm>
              <a:off x="0" y="-38100"/>
              <a:ext cx="22288500" cy="10642600"/>
              <a:chOff x="0" y="-38100"/>
              <a:chExt cx="22288500" cy="10642600"/>
            </a:xfrm>
          </p:grpSpPr>
          <p:sp>
            <p:nvSpPr>
              <p:cNvPr id="521" name="Google Shape;521;p26"/>
              <p:cNvSpPr/>
              <p:nvPr/>
            </p:nvSpPr>
            <p:spPr>
              <a:xfrm>
                <a:off x="0" y="0"/>
                <a:ext cx="22288500" cy="10604500"/>
              </a:xfrm>
              <a:custGeom>
                <a:rect b="b" l="l" r="r" t="t"/>
                <a:pathLst>
                  <a:path extrusionOk="0" h="10604500" w="22288500">
                    <a:moveTo>
                      <a:pt x="0" y="0"/>
                    </a:moveTo>
                    <a:lnTo>
                      <a:pt x="22288500" y="0"/>
                    </a:lnTo>
                    <a:lnTo>
                      <a:pt x="22288500" y="10604500"/>
                    </a:lnTo>
                    <a:lnTo>
                      <a:pt x="0" y="10604500"/>
                    </a:lnTo>
                    <a:close/>
                  </a:path>
                </a:pathLst>
              </a:custGeom>
              <a:solidFill>
                <a:srgbClr val="091D2A"/>
              </a:solidFill>
              <a:ln cap="sq" cmpd="sng" w="19050">
                <a:solidFill>
                  <a:srgbClr val="27D3E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522" name="Google Shape;522;p26"/>
              <p:cNvSpPr txBox="1"/>
              <p:nvPr/>
            </p:nvSpPr>
            <p:spPr>
              <a:xfrm>
                <a:off x="0" y="-38100"/>
                <a:ext cx="22288500" cy="1064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3" name="Google Shape;523;p26"/>
            <p:cNvGrpSpPr/>
            <p:nvPr/>
          </p:nvGrpSpPr>
          <p:grpSpPr>
            <a:xfrm>
              <a:off x="0" y="-38100"/>
              <a:ext cx="22288500" cy="266700"/>
              <a:chOff x="0" y="-38100"/>
              <a:chExt cx="22288500" cy="266700"/>
            </a:xfrm>
          </p:grpSpPr>
          <p:sp>
            <p:nvSpPr>
              <p:cNvPr id="524" name="Google Shape;524;p26"/>
              <p:cNvSpPr/>
              <p:nvPr/>
            </p:nvSpPr>
            <p:spPr>
              <a:xfrm>
                <a:off x="0" y="0"/>
                <a:ext cx="22288500" cy="228600"/>
              </a:xfrm>
              <a:custGeom>
                <a:rect b="b" l="l" r="r" t="t"/>
                <a:pathLst>
                  <a:path extrusionOk="0" h="228600" w="22288500">
                    <a:moveTo>
                      <a:pt x="0" y="0"/>
                    </a:moveTo>
                    <a:lnTo>
                      <a:pt x="22288500" y="0"/>
                    </a:lnTo>
                    <a:lnTo>
                      <a:pt x="222885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7D3E2"/>
              </a:solidFill>
              <a:ln>
                <a:noFill/>
              </a:ln>
            </p:spPr>
          </p:sp>
          <p:sp>
            <p:nvSpPr>
              <p:cNvPr id="525" name="Google Shape;525;p26"/>
              <p:cNvSpPr txBox="1"/>
              <p:nvPr/>
            </p:nvSpPr>
            <p:spPr>
              <a:xfrm>
                <a:off x="0" y="-38100"/>
                <a:ext cx="222885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l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6" name="Google Shape;526;p26"/>
            <p:cNvSpPr txBox="1"/>
            <p:nvPr/>
          </p:nvSpPr>
          <p:spPr>
            <a:xfrm>
              <a:off x="355600" y="327025"/>
              <a:ext cx="20955000" cy="6718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{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"type": "bundle",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"id": "bundle--b89c02d1-4e2a-4318-912b-10a29381bf45",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"objects": [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{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"type": "threat-actor", "spec_version": "2.1",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"id": "threat-actor--8e2e2d2b-1111-4b4b-8888-999999999999",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"created": "2026-10-08T10:00:00.000Z",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"modified": "2026-10-08T10:00:00.000Z",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"name": "Cluster-2026-Helios",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"threat_actor_types": ["cyberespionage"], "sophistication": "advanced"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},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{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"type": "indicator", "spec_version": "2.1",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"id": "indicator--3b3b3b3b-2222-4c4c-9999-000000000000",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"name": "Malicious C2 Domain",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"pattern": "[domain-name:value = 'api-telemetry-eu.test']",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"pattern_type": "stix", "valid_from": "2026-03-02T00:00:00Z"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},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{ "type": "relationship", "spec_version": "2.1",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"id": "relationship--4c4c4c4c-3333-4d4d-000…" }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]</a:t>
              </a:r>
              <a:endParaRPr/>
            </a:p>
            <a:p>
              <a:pPr indent="0" lvl="0" marL="0" marR="0" rtl="0" algn="l">
                <a:lnSpc>
                  <a:spcPct val="1159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D7EDF3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}</a:t>
              </a:r>
              <a:endParaRPr/>
            </a:p>
          </p:txBody>
        </p:sp>
        <p:sp>
          <p:nvSpPr>
            <p:cNvPr id="527" name="Google Shape;527;p26"/>
            <p:cNvSpPr txBox="1"/>
            <p:nvPr/>
          </p:nvSpPr>
          <p:spPr>
            <a:xfrm>
              <a:off x="13944600" y="10121900"/>
              <a:ext cx="7366000" cy="36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50" u="none" cap="none" strike="noStrike">
                  <a:solidFill>
                    <a:srgbClr val="27D3E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Bundle · STIX 2.1 · sérialisé JSON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